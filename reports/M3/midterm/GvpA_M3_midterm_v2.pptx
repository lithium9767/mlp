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6713c525e74922" /><Relationship Type="http://schemas.openxmlformats.org/officeDocument/2006/relationships/extended-properties" Target="/docProps/app.xml" Id="R8d547ff5c9f84047" /><Relationship Type="http://schemas.openxmlformats.org/officeDocument/2006/relationships/officeDocument" Target="/ppt/presentation.xml" Id="R59611dc633ac48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00fceb37064d3a"/>
  </p:sldMasterIdLst>
  <p:notesMasterIdLst>
    <p:notesMasterId xmlns:r="http://schemas.openxmlformats.org/officeDocument/2006/relationships" r:id="Rdb038aded6cf41d5"/>
  </p:notesMasterIdLst>
  <p:sldIdLst>
    <p:sldId xmlns:r="http://schemas.openxmlformats.org/officeDocument/2006/relationships" id="256" r:id="rIdDeckSlide1"/>
    <p:sldId xmlns:r="http://schemas.openxmlformats.org/officeDocument/2006/relationships" id="257" r:id="rIdDeckSlide2"/>
    <p:sldId xmlns:r="http://schemas.openxmlformats.org/officeDocument/2006/relationships" id="258" r:id="rIdDeckSlide3"/>
    <p:sldId xmlns:r="http://schemas.openxmlformats.org/officeDocument/2006/relationships" id="259" r:id="rIdDeckSlide4"/>
    <p:sldId xmlns:r="http://schemas.openxmlformats.org/officeDocument/2006/relationships" id="260" r:id="rIdDeckSlide5"/>
    <p:sldId xmlns:r="http://schemas.openxmlformats.org/officeDocument/2006/relationships" id="261" r:id="rIdDeckSlide6"/>
    <p:sldId xmlns:r="http://schemas.openxmlformats.org/officeDocument/2006/relationships" id="262" r:id="rIdDeckSlide7"/>
    <p:sldId xmlns:r="http://schemas.openxmlformats.org/officeDocument/2006/relationships" id="263" r:id="rIdDeckSlide8"/>
    <p:sldId xmlns:r="http://schemas.openxmlformats.org/officeDocument/2006/relationships" id="264" r:id="rIdDeckSlide9"/>
    <p:sldId xmlns:r="http://schemas.openxmlformats.org/officeDocument/2006/relationships" id="265" r:id="rIdDeckSlide10"/>
    <p:sldId xmlns:r="http://schemas.openxmlformats.org/officeDocument/2006/relationships" id="266" r:id="rIdDeckSlide11"/>
    <p:sldId xmlns:r="http://schemas.openxmlformats.org/officeDocument/2006/relationships" id="267" r:id="rIdDeckSlide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67ae108e8a014601" /><Relationship Type="http://schemas.openxmlformats.org/officeDocument/2006/relationships/slideMaster" Target="/ppt/slideMasters/slideMaster1.xml" Id="R0e00fceb37064d3a" /><Relationship Type="http://schemas.openxmlformats.org/officeDocument/2006/relationships/notesMaster" Target="/ppt/notesMasters/notesMaster1.xml" Id="Rdb038aded6cf41d5" /><Relationship Type="http://schemas.openxmlformats.org/officeDocument/2006/relationships/presProps" Target="/ppt/presProps.xml" Id="Ra839475cc6c544ba" /><Relationship Type="http://schemas.openxmlformats.org/officeDocument/2006/relationships/tableStyles" Target="/ppt/tableStyles.xml" Id="Rc13f87378aef4816" /><Relationship Type="http://schemas.openxmlformats.org/officeDocument/2006/relationships/slide" Target="/ppt/slides/slide1.xml" Id="rIdDeckSlide1"/><Relationship Type="http://schemas.openxmlformats.org/officeDocument/2006/relationships/slide" Target="/ppt/slides/slide2.xml" Id="rIdDeckSlide2"/><Relationship Type="http://schemas.openxmlformats.org/officeDocument/2006/relationships/slide" Target="/ppt/slides/slide3.xml" Id="rIdDeckSlide3"/><Relationship Type="http://schemas.openxmlformats.org/officeDocument/2006/relationships/slide" Target="/ppt/slides/slide4.xml" Id="rIdDeckSlide4"/><Relationship Type="http://schemas.openxmlformats.org/officeDocument/2006/relationships/slide" Target="/ppt/slides/slide5.xml" Id="rIdDeckSlide5"/><Relationship Type="http://schemas.openxmlformats.org/officeDocument/2006/relationships/slide" Target="/ppt/slides/slide6.xml" Id="rIdDeckSlide6"/><Relationship Type="http://schemas.openxmlformats.org/officeDocument/2006/relationships/slide" Target="/ppt/slides/slide7.xml" Id="rIdDeckSlide7"/><Relationship Type="http://schemas.openxmlformats.org/officeDocument/2006/relationships/slide" Target="/ppt/slides/slide8.xml" Id="rIdDeckSlide8"/><Relationship Type="http://schemas.openxmlformats.org/officeDocument/2006/relationships/slide" Target="/ppt/slides/slide9.xml" Id="rIdDeckSlide9"/><Relationship Type="http://schemas.openxmlformats.org/officeDocument/2006/relationships/slide" Target="/ppt/slides/slide10.xml" Id="rIdDeckSlide10"/><Relationship Type="http://schemas.openxmlformats.org/officeDocument/2006/relationships/slide" Target="/ppt/slides/slide11.xml" Id="rIdDeckSlide11"/><Relationship Type="http://schemas.openxmlformats.org/officeDocument/2006/relationships/slide" Target="/ppt/slides/slide12.xml" Id="rIdDeckSlide12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d129cdb4fb4a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Relationships xmlns="http://schemas.openxmlformats.org/package/2006/relationships"><Relationship Type="http://schemas.openxmlformats.org/officeDocument/2006/relationships/slide" Target="/ppt/slides/slide1.xml" Id="rIdSlide"/><Relationship Type="http://schemas.openxmlformats.org/officeDocument/2006/relationships/notesMaster" Target="/ppt/notesMasters/notesMaster1.xml" Id="rIdMaster"/></Relationships>
</file>

<file path=ppt/notesSlides/_rels/notesSlide2.xml.rels><Relationships xmlns="http://schemas.openxmlformats.org/package/2006/relationships"><Relationship Type="http://schemas.openxmlformats.org/officeDocument/2006/relationships/slide" Target="/ppt/slides/slide2.xml" Id="rIdSlide"/><Relationship Type="http://schemas.openxmlformats.org/officeDocument/2006/relationships/notesMaster" Target="/ppt/notesMasters/notesMaster1.xml" Id="rIdMaster"/></Relationships>
</file>

<file path=ppt/notesSlides/_rels/notesSlide3.xml.rels><Relationships xmlns="http://schemas.openxmlformats.org/package/2006/relationships"><Relationship Type="http://schemas.openxmlformats.org/officeDocument/2006/relationships/slide" Target="/ppt/slides/slide3.xml" Id="rIdSlide"/><Relationship Type="http://schemas.openxmlformats.org/officeDocument/2006/relationships/notesMaster" Target="/ppt/notesMasters/notesMaster1.xml" Id="rIdMaster"/></Relationships>
</file>

<file path=ppt/notesSlides/_rels/notesSlide4.xml.rels><Relationships xmlns="http://schemas.openxmlformats.org/package/2006/relationships"><Relationship Type="http://schemas.openxmlformats.org/officeDocument/2006/relationships/slide" Target="/ppt/slides/slide4.xml" Id="rIdSlide"/><Relationship Type="http://schemas.openxmlformats.org/officeDocument/2006/relationships/notesMaster" Target="/ppt/notesMasters/notesMaster1.xml" Id="rIdMaster"/></Relationships>
</file>

<file path=ppt/notesSlides/_rels/notesSlide5.xml.rels><Relationships xmlns="http://schemas.openxmlformats.org/package/2006/relationships"><Relationship Type="http://schemas.openxmlformats.org/officeDocument/2006/relationships/slide" Target="/ppt/slides/slide5.xml" Id="rIdSlide"/><Relationship Type="http://schemas.openxmlformats.org/officeDocument/2006/relationships/notesMaster" Target="/ppt/notesMasters/notesMaster1.xml" Id="rIdMaster"/></Relationships>
</file>

<file path=ppt/notesSlides/_rels/notesSlide6.xml.rels><Relationships xmlns="http://schemas.openxmlformats.org/package/2006/relationships"><Relationship Type="http://schemas.openxmlformats.org/officeDocument/2006/relationships/slide" Target="/ppt/slides/slide6.xml" Id="rIdSlide"/><Relationship Type="http://schemas.openxmlformats.org/officeDocument/2006/relationships/notesMaster" Target="/ppt/notesMasters/notesMaster1.xml" Id="rIdMaster"/></Relationships>
</file>

<file path=ppt/notesSlides/_rels/notesSlide7.xml.rels><Relationships xmlns="http://schemas.openxmlformats.org/package/2006/relationships"><Relationship Type="http://schemas.openxmlformats.org/officeDocument/2006/relationships/slide" Target="/ppt/slides/slide7.xml" Id="rIdSlide"/><Relationship Type="http://schemas.openxmlformats.org/officeDocument/2006/relationships/notesMaster" Target="/ppt/notesMasters/notesMaster1.xml" Id="rIdMaster"/></Relationships>
</file>

<file path=ppt/notesSlides/_rels/notesSlide8.xml.rels><Relationships xmlns="http://schemas.openxmlformats.org/package/2006/relationships"><Relationship Type="http://schemas.openxmlformats.org/officeDocument/2006/relationships/slide" Target="/ppt/slides/slide8.xml" Id="rIdSlide"/><Relationship Type="http://schemas.openxmlformats.org/officeDocument/2006/relationships/notesMaster" Target="/ppt/notesMasters/notesMaster1.xml" Id="rIdMaster"/></Relationships>
</file>

<file path=ppt/notesSlides/_rels/notesSlide9.xml.rels><Relationships xmlns="http://schemas.openxmlformats.org/package/2006/relationships"><Relationship Type="http://schemas.openxmlformats.org/officeDocument/2006/relationships/slide" Target="/ppt/slides/slide9.xml" Id="rIdSlide"/><Relationship Type="http://schemas.openxmlformats.org/officeDocument/2006/relationships/notesMaster" Target="/ppt/notesMasters/notesMaster1.xml" Id="rIdMaster"/></Relationships>
</file>

<file path=ppt/notesSlides/_rels/notesSlide10.xml.rels><Relationships xmlns="http://schemas.openxmlformats.org/package/2006/relationships"><Relationship Type="http://schemas.openxmlformats.org/officeDocument/2006/relationships/slide" Target="/ppt/slides/slide10.xml" Id="rIdSlide"/><Relationship Type="http://schemas.openxmlformats.org/officeDocument/2006/relationships/notesMaster" Target="/ppt/notesMasters/notesMaster1.xml" Id="rIdMaster"/></Relationships>
</file>

<file path=ppt/notesSlides/_rels/notesSlide11.xml.rels><Relationships xmlns="http://schemas.openxmlformats.org/package/2006/relationships"><Relationship Type="http://schemas.openxmlformats.org/officeDocument/2006/relationships/slide" Target="/ppt/slides/slide11.xml" Id="rIdSlide"/><Relationship Type="http://schemas.openxmlformats.org/officeDocument/2006/relationships/notesMaster" Target="/ppt/notesMasters/notesMaster1.xml" Id="rIdMaster"/></Relationships>
</file>

<file path=ppt/notesSlides/_rels/notesSlide12.xml.rels><Relationships xmlns="http://schemas.openxmlformats.org/package/2006/relationships"><Relationship Type="http://schemas.openxmlformats.org/officeDocument/2006/relationships/slide" Target="/ppt/slides/slide12.xml" Id="rIdSlide"/><Relationship Type="http://schemas.openxmlformats.org/officeDocument/2006/relationships/notesMaster" Target="/ppt/notesMasters/notesMaster1.xml" Id="rIdMaster"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各位老师好，我是史晨皓。我们研究 GvpA 的潜在功能区域识别。这次按中期要求，汇报模型设计、Baseline 实现和初步实验，以及代码与实验记录的交付情况。</ns1:t>
            </ns1:r>
          </ns1:p>
          <ns1:p>
            <ns1:r>
              <ns1:t>[Sources]</ns1:t>
            </ns1:r>
          </ns1:p>
          <ns1:p>
            <ns1:r>
              <ns1:t>intro-mlproj.pdf，第8、10页</ns1:t>
            </ns1:r>
          </ns1:p>
          <ns1:p>
            <ns1:r>
              <ns1:t>用户提供的中期要求截图</ns1:t>
            </ns1:r>
          </ns1:p>
          <ns1:p>
            <ns1:r>
              <ns1:t>[/Sources]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最初我们考虑功能分类，但所有可扫描序列都命中同一家族，缺少可靠的功能差异标签。因此改为区域识别：第一，表征能否发现可定位模式；第二，它是否只是长度或位置效应；第三，能否得到独立生物学证据。输出是有证据等级的候选区域，不把聚类直接称为功能证明。</ns1:t>
            </ns1:r>
          </ns1:p>
          <ns1:p>
            <ns1:r>
              <ns1:t>[Sources]</ns1:t>
            </ns1:r>
          </ns1:p>
          <ns1:p>
            <ns1:r>
              <ns1:t>MLP/results/bioinformatics/pf00741_scan_summary.json</ns1:t>
            </ns1:r>
          </ns1:p>
          <ns1:p>
            <ns1:r>
              <ns1:t>MLP/reports/M3/candidate_freeze_decision.md</ns1:t>
            </ns1:r>
          </ns1:p>
          <ns1:p>
            <ns1:r>
              <ns1:t>[/Sources]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M2 已验收。2078 条去重候选按质量分层，其中 1721 条进入主分析；partial 和类型冲突保留作敏感性队列，另有两条被质量排除。2076 条可扫描序列按 478 个同源簇划分，没有跨集合簇泄漏。M3 只在 1202 条主分析 discovery 序列上拟合；519 条主分析 validation 继续隔离。</ns1:t>
            </ns1:r>
          </ns1:p>
          <ns1:p>
            <ns1:r>
              <ns1:t>[Sources]</ns1:t>
            </ns1:r>
          </ns1:p>
          <ns1:p>
            <ns1:r>
              <ns1:t>MLP/results/data_audit/gvpa_v1_audit_summary.json</ns1:t>
            </ns1:r>
          </ns1:p>
          <ns1:p>
            <ns1:r>
              <ns1:t>MLP/results/data_audit/gvpa_v1_split_summary.json</ns1:t>
            </ns1:r>
          </ns1:p>
          <ns1:p>
            <ns1:r>
              <ns1:t>[/Sources]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方法先把整条序列送入 ESM-2 35M，取得第十二层、每个残基 480 维的上下文表示。再对三十个残基的窗口做平均池化，而不是重新把短片段当成独立序列编码。主配置使用 PCA 二十维和 HDBSCAN。窗口保留原序列及 HMM 坐标，排除特殊 token；UMAP 只作展示，全部拟合在 discovery 内完成。</ns1:t>
            </ns1:r>
          </ns1:p>
          <ns1:p>
            <ns1:r>
              <ns1:t>[Sources]</ns1:t>
            </ns1:r>
          </ns1:p>
          <ns1:p>
            <ns1:r>
              <ns1:t>MLP/features/esm2_embed.py</ns1:t>
            </ns1:r>
          </ns1:p>
          <ns1:p>
            <ns1:r>
              <ns1:t>MLP/scripts/m3_discovery.py:window_rows / cluster_fit</ns1:t>
            </ns1:r>
          </ns1:p>
          <ns1:p>
            <ns1:r>
              <ns1:t>MLP/configs/m3_discovery.json</ns1:t>
            </ns1:r>
          </ns1:p>
          <ns1:p>
            <ns1:r>
              <ns1:t>[/Sources]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我们实现了二十维氨基酸组成基线，采用相同窗口及聚类流程。ESM 主配置四簇，噪声比例百分之三十点六八；组成基线七十四簇，噪声百分之六十八点三三。二者 ARI 为负，说明划分差异较大。不过簇数和噪声比例没有功能真值含义，不能凭这些数字宣称 ESM 更准确。</ns1:t>
            </ns1:r>
          </ns1:p>
          <ns1:p>
            <ns1:r>
              <ns1:t>[Sources]</ns1:t>
            </ns1:r>
          </ns1:p>
          <ns1:p>
            <ns1:r>
              <ns1:t>MLP/reports/M3/runs/M3-D-DISCOVERY-001/simple_baseline.csv</ns1:t>
            </ns1:r>
          </ns1:p>
          <ns1:p>
            <ns1:r>
              <ns1:t>MLP/reports/M3/runs/M3-D-DISCOVERY-001/parameter_sensitivity.csv</ns1:t>
            </ns1:r>
          </ns1:p>
          <ns1:p>
            <ns1:r>
              <ns1:t>[/Sources]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初步分析中，簇三包含 2216 个窗口和 265 条序列，多数覆盖 HMM 十四到三十九区间，其中百分之六十三点九四覆盖状态二十五。按长度及相对位置分箱匹配的五十次随机诊断，九十五分位为百分之五十九点九一。这提供了一点探索性支持，但窗口重叠，而且区域是在发现后选择的，不能当作功能显著性结论。</ns1:t>
            </ns1:r>
          </ns1:p>
          <ns1:p>
            <ns1:r>
              <ns1:t>[Sources]</ns1:t>
            </ns1:r>
          </ns1:p>
          <ns1:p>
            <ns1:r>
              <ns1:t>MLP/reports/M3/runs/M3-D-DISCOVERY-001/candidate_regions.csv</ns1:t>
            </ns1:r>
          </ns1:p>
          <ns1:p>
            <ns1:r>
              <ns1:t>MLP/reports/M3/runs/M3-D-DISCOVERY-001/window_umap.png</ns1:t>
            </ns1:r>
          </ns1:p>
          <ns1:p>
            <ns1:r>
              <ns1:t>[/Sources]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稳健性检查显示，修改最小簇大小影响较小，但改变 PCA 维度或窗口尺度后结果变化明显。更关键的是，短序列中有 245 条进入簇三，而一百三十一到一百六十残基的 845 条序列只有一条进入。只用长度区分参与情况，AUC 达到零点九六八八。这是混杂诊断，不是功能预测成绩，所以候选尚未冻结，validation 尚未运行。</ns1:t>
            </ns1:r>
          </ns1:p>
          <ns1:p>
            <ns1:r>
              <ns1:t>[Sources]</ns1:t>
            </ns1:r>
          </ns1:p>
          <ns1:p>
            <ns1:r>
              <ns1:t>MLP/reports/M3/runs/M3-D-DISCOVERY-001/parameter_sensitivity.csv</ns1:t>
            </ns1:r>
          </ns1:p>
          <ns1:p>
            <ns1:r>
              <ns1:t>MLP/reports/M3/runs/M3-D-ROBUST-001/summary.json</ns1:t>
            </ns1:r>
          </ns1:p>
          <ns1:p>
            <ns1:r>
              <ns1:t>MLP/reports/M3/runs/M3-D-ROBUST-001/length_bins.csv</ns1:t>
            </ns1:r>
          </ns1:p>
          <ns1:p>
            <ns1:r>
              <ns1:t>[/Sources]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成员分工是：我负责统筹、冻结规则和证据整合；韩涛鸿负责数据来源和划分；燕相楠负责 HMM 与结构坐标；李若凡负责表征、聚类及后续验证；杨傲翔负责匹配基线、扰动归因和图表。后续各模块使用同一个冻结候选与坐标版本，避免各做各的、结果无法对应。</ns1:t>
            </ns1:r>
          </ns1:p>
          <ns1:p>
            <ns1:r>
              <ns1:t>[Sources]</ns1:t>
            </ns1:r>
          </ns1:p>
          <ns1:p>
            <ns1:r>
              <ns1:t>本次用户确认的姓名与角色</ns1:t>
            </ns1:r>
          </ns1:p>
          <ns1:p>
            <ns1:r>
              <ns1:t>MLP/docs/plans/2026-10-07-m3-midterm-sprint.md</ns1:t>
            </ns1:r>
          </ns1:p>
          <ns1:p>
            <ns1:r>
              <ns1:t>[/Sources]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对照课程要求，模型定制设计和 Baseline 已实现，也完成了参数、随机和混杂等初步实验。代码、配置、台账及带真实 SHA 和哈希的收据已有交付。当前满足这些内容的展示，但尚未完成独立验证和 M3 验收。下一步先控制长度混杂，再冻结候选，执行锁定验证，并补充生物学与扰动证据。</ns1:t>
            </ns1:r>
          </ns1:p>
          <ns1:p>
            <ns1:r>
              <ns1:t>[Sources]</ns1:t>
            </ns1:r>
          </ns1:p>
          <ns1:p>
            <ns1:r>
              <ns1:t>intro-mlproj.pdf，第8、10页</ns1:t>
            </ns1:r>
          </ns1:p>
          <ns1:p>
            <ns1:r>
              <ns1:t>MLP/experiments/registry.csv</ns1:t>
            </ns1:r>
          </ns1:p>
          <ns1:p>
            <ns1:r>
              <ns1:t>MLP/reports/M3/candidate_freeze_decision.md</ns1:t>
            </ns1:r>
          </ns1:p>
          <ns1:p>
            <ns1:r>
              <ns1:t>[/Sources]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0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问答备用：运行 SHA 与归档 SHA 分开；真实命令、环境、输入输出哈希都在收据中。大数组保留于忽略目录，共享访问仍需来源闭环。</ns1:t>
            </ns1:r>
          </ns1:p>
          <ns1:p>
            <ns1:r>
              <ns1:t>[Sources]</ns1:t>
            </ns1:r>
          </ns1:p>
          <ns1:p>
            <ns1:r>
              <ns1:t>MLP/experiments/registry.csv</ns1:t>
            </ns1:r>
          </ns1:p>
          <ns1:p>
            <ns1:r>
              <ns1:t>MLP/reports/M3/runs/M3-D-DISCOVERY-001/run_receipt.json</ns1:t>
            </ns1:r>
          </ns1:p>
          <ns1:p>
            <ns1:r>
              <ns1:t>MLP/reports/M3/runs/M3-D-ROBUST-001/run_receipt.json</ns1:t>
            </ns1:r>
          </ns1:p>
          <ns1:p>
            <ns1:r>
              <ns1:t>[/Sources]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问答备用：C 坐标包的哈希和行数已经核对；E 修订包的六份 CSV 可以重现，但还没有实际残基扰动。技术预检不等于组员审查，也不等于生物学证据通过。</ns1:t>
            </ns1:r>
          </ns1:p>
          <ns1:p>
            <ns1:r>
              <ns1:t>[Sources]</ns1:t>
            </ns1:r>
          </ns1:p>
          <ns1:p>
            <ns1:r>
              <ns1:t>MLP/reports/M3/c_handoff_technical_check.md</ns1:t>
            </ns1:r>
          </ns1:p>
          <ns1:p>
            <ns1:r>
              <ns1:t>MLP/reports/M3/e_handoff_technical_check.md</ns1:t>
            </ns1:r>
          </ns1:p>
          <ns1:p>
            <ns1:r>
              <ns1:t>MLP/docs/plans/2026-10-07-m3-midterm-sprint.md</ns1:t>
            </ns1:r>
          </ns1:p>
          <ns1:p>
            <ns1:r>
              <ns1:t>[/Sources]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问答备用：HMM 状态是对齐坐标，不是每条蛋白的原始残基编号，也不是结构残基号。功能实验必须先核对亲本序列和映射。发现集初步实验与独立验证分开汇报。</ns1:t>
            </ns1:r>
          </ns1:p>
          <ns1:p>
            <ns1:r>
              <ns1:t>[Sources]</ns1:t>
            </ns1:r>
          </ns1:p>
          <ns1:p>
            <ns1:r>
              <ns1:t>MLP/reports/M3/candidate_freeze_decision.md</ns1:t>
            </ns1:r>
          </ns1:p>
          <ns1:p>
            <ns1:r>
              <ns1:t>MLP/reports/M3/c_handoff_technical_check.md</ns1:t>
            </ns1:r>
          </ns1:p>
          <ns1:p>
            <ns1:r>
              <ns1:t>[/Sources]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4ecb9f985a44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2366c204654d98" /><Relationship Type="http://schemas.openxmlformats.org/officeDocument/2006/relationships/slideLayout" Target="/ppt/slideLayouts/slideLayout1.xml" Id="R1d3fa5c4ce3548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3fa5c4ce3548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notesSlide" Target="/ppt/notesSlides/notesSlide1.xml" Id="rIdNotes"/></Relationships>
</file>

<file path=ppt/slides/_rels/slide2.xml.rels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notesSlide" Target="/ppt/notesSlides/notesSlide2.xml" Id="rIdNotes"/></Relationships>
</file>

<file path=ppt/slides/_rels/slide3.xml.rels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notesSlide" Target="/ppt/notesSlides/notesSlide3.xml" Id="rIdNotes"/></Relationships>
</file>

<file path=ppt/slides/_rels/slide4.xml.rels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notesSlide" Target="/ppt/notesSlides/notesSlide4.xml" Id="rIdNotes"/></Relationships>
</file>

<file path=ppt/slides/_rels/slide5.xml.rels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notesSlide" Target="/ppt/notesSlides/notesSlide5.xml" Id="rIdNotes"/></Relationships>
</file>

<file path=ppt/slides/_rels/slide6.xml.rels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notesSlide" Target="/ppt/notesSlides/notesSlide6.xml" Id="rIdNotes"/><Relationship Type="http://schemas.openxmlformats.org/officeDocument/2006/relationships/image" Target="/ppt/media/m3_umap.png" Id="rIdImage1"/></Relationships>
</file>

<file path=ppt/slides/_rels/slide7.xml.rels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notesSlide" Target="/ppt/notesSlides/notesSlide7.xml" Id="rIdNotes"/></Relationships>
</file>

<file path=ppt/slides/_rels/slide8.xml.rels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notesSlide" Target="/ppt/notesSlides/notesSlide8.xml" Id="rIdNotes"/></Relationships>
</file>

<file path=ppt/slides/_rels/slide9.xml.rels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notesSlide" Target="/ppt/notesSlides/notesSlide9.xml" Id="rIdNotes"/></Relationships>
</file>

<file path=ppt/slides/_rels/slide10.xml.rels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notesSlide" Target="/ppt/notesSlides/notesSlide10.xml" Id="rIdNotes"/></Relationships>
</file>

<file path=ppt/slides/_rels/slide11.xml.rels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notesSlide" Target="/ppt/notesSlides/notesSlide11.xml" Id="rIdNotes"/></Relationships>
</file>

<file path=ppt/slides/_rels/slide12.xml.rels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notesSlide" Target="/ppt/notesSlides/notesSlide12.xml" Id="rIdNotes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508000" y="609600"/>
            <a:ext cx="101600" cy="393700"/>
          </a:xfrm>
          <a:prstGeom prst="rect">
            <a:avLst/>
          </a:prstGeom>
          <a:solidFill>
            <a:srgbClr val="317CE4"/>
          </a:solidFill>
          <a:ln>
            <a:noFill/>
          </a:ln>
        </p:spPr>
      </p:sp>
      <p:sp>
        <p:nvSpPr>
          <p:cNvPr id="3" name="content-3"/>
          <p:cNvSpPr txBox="1"/>
          <p:nvPr/>
        </p:nvSpPr>
        <p:spPr>
          <a:xfrm>
            <a:off x="800100" y="635000"/>
            <a:ext cx="927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317CE4"/>
                </a:solidFill>
                <a:latin typeface="Microsoft YaHei"/>
                <a:ea typeface="Microsoft YaHei"/>
              </a:rPr>
              <a:t>TJU 机器学习实践 · 中期检查</a:t>
            </a:r>
            <a:endParaRPr lang="zh-CN"/>
          </a:p>
        </p:txBody>
      </p:sp>
      <p:sp>
        <p:nvSpPr>
          <p:cNvPr id="4" name="content-4"/>
          <p:cNvSpPr txBox="1"/>
          <p:nvPr/>
        </p:nvSpPr>
        <p:spPr>
          <a:xfrm>
            <a:off x="508000" y="1968500"/>
            <a:ext cx="11303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5000" b="1">
                <a:solidFill>
                  <a:srgbClr val="122037"/>
                </a:solidFill>
                <a:latin typeface="Microsoft YaHei"/>
                <a:ea typeface="Microsoft YaHei"/>
              </a:rPr>
              <a:t>GvpA 潜在功能区域识别</a:t>
            </a:r>
            <a:endParaRPr lang="zh-CN"/>
          </a:p>
        </p:txBody>
      </p:sp>
      <p:sp>
        <p:nvSpPr>
          <p:cNvPr id="5" name="content-5"/>
          <p:cNvSpPr txBox="1"/>
          <p:nvPr/>
        </p:nvSpPr>
        <p:spPr>
          <a:xfrm>
            <a:off x="533400" y="3429000"/>
            <a:ext cx="109220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600">
                <a:solidFill>
                  <a:srgbClr val="4F627A"/>
                </a:solidFill>
                <a:latin typeface="Microsoft YaHei"/>
                <a:ea typeface="Microsoft YaHei"/>
              </a:rPr>
              <a:t>蛋白语言模型表征 · 无监督发现 · 多源证据验证</a:t>
            </a:r>
            <a:endParaRPr lang="zh-CN"/>
          </a:p>
        </p:txBody>
      </p:sp>
      <p:sp>
        <p:nvSpPr>
          <p:cNvPr id="6" name="rule"/>
          <p:cNvSpPr/>
          <p:nvPr/>
        </p:nvSpPr>
        <p:spPr>
          <a:xfrm>
            <a:off x="533400" y="4749800"/>
            <a:ext cx="10998200" cy="254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7" name="content-7"/>
          <p:cNvSpPr txBox="1"/>
          <p:nvPr/>
        </p:nvSpPr>
        <p:spPr>
          <a:xfrm>
            <a:off x="533400" y="51054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400" b="1">
                <a:solidFill>
                  <a:srgbClr val="122037"/>
                </a:solidFill>
                <a:latin typeface="Microsoft YaHei"/>
                <a:ea typeface="Microsoft YaHei"/>
              </a:rPr>
              <a:t>汇报人：史晨皓</a:t>
            </a:r>
            <a:endParaRPr lang="zh-CN"/>
          </a:p>
        </p:txBody>
      </p:sp>
      <p:sp>
        <p:nvSpPr>
          <p:cNvPr id="8" name="content-8"/>
          <p:cNvSpPr txBox="1"/>
          <p:nvPr/>
        </p:nvSpPr>
        <p:spPr>
          <a:xfrm>
            <a:off x="533400" y="5778500"/>
            <a:ext cx="10795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00">
                <a:solidFill>
                  <a:srgbClr val="4F627A"/>
                </a:solidFill>
                <a:latin typeface="Microsoft YaHei"/>
                <a:ea typeface="Microsoft YaHei"/>
              </a:rPr>
              <a:t>M2 数据基础已验收  |  M3 Baseline 与初步实验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82600" y="393700"/>
            <a:ext cx="63500" cy="304800"/>
          </a:xfrm>
          <a:prstGeom prst="rect">
            <a:avLst/>
          </a:prstGeom>
          <a:solidFill>
            <a:srgbClr val="317CE4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660400" y="381000"/>
            <a:ext cx="8255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300" b="1">
                <a:solidFill>
                  <a:srgbClr val="317CE4"/>
                </a:solidFill>
                <a:latin typeface="Microsoft YaHei"/>
                <a:ea typeface="Microsoft YaHei"/>
              </a:rPr>
              <a:t>01 / 任务定义</a:t>
            </a:r>
            <a:endParaRPr lang="zh-CN"/>
          </a:p>
        </p:txBody>
      </p:sp>
      <p:sp>
        <p:nvSpPr>
          <p:cNvPr id="4" name="title"/>
          <p:cNvSpPr txBox="1"/>
          <p:nvPr/>
        </p:nvSpPr>
        <p:spPr>
          <a:xfrm>
            <a:off x="482600" y="952500"/>
            <a:ext cx="1125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500" b="1">
                <a:solidFill>
                  <a:srgbClr val="122037"/>
                </a:solidFill>
                <a:latin typeface="Microsoft YaHei"/>
                <a:ea typeface="Microsoft YaHei"/>
              </a:rPr>
              <a:t>家族标签不足以区分功能，转向区域假设</a:t>
            </a:r>
            <a:endParaRPr lang="zh-CN"/>
          </a:p>
        </p:txBody>
      </p:sp>
      <p:sp>
        <p:nvSpPr>
          <p:cNvPr id="5" name="footer-rule"/>
          <p:cNvSpPr/>
          <p:nvPr/>
        </p:nvSpPr>
        <p:spPr>
          <a:xfrm>
            <a:off x="482600" y="6299200"/>
            <a:ext cx="112268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6" name="footer"/>
          <p:cNvSpPr txBox="1"/>
          <p:nvPr/>
        </p:nvSpPr>
        <p:spPr>
          <a:xfrm>
            <a:off x="482600" y="6413500"/>
            <a:ext cx="558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GvpA · M3 中期汇报</a:t>
            </a:r>
            <a:endParaRPr lang="zh-CN"/>
          </a:p>
        </p:txBody>
      </p:sp>
      <p:sp>
        <p:nvSpPr>
          <p:cNvPr id="7" name="page"/>
          <p:cNvSpPr txBox="1"/>
          <p:nvPr/>
        </p:nvSpPr>
        <p:spPr>
          <a:xfrm>
            <a:off x="11290300" y="6413500"/>
            <a:ext cx="4191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02</a:t>
            </a:r>
            <a:endParaRPr lang="zh-CN"/>
          </a:p>
        </p:txBody>
      </p:sp>
      <p:sp>
        <p:nvSpPr>
          <p:cNvPr id="8" name="content-8"/>
          <p:cNvSpPr txBox="1"/>
          <p:nvPr/>
        </p:nvSpPr>
        <p:spPr>
          <a:xfrm>
            <a:off x="660400" y="2095500"/>
            <a:ext cx="4572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400" b="1">
                <a:solidFill>
                  <a:srgbClr val="317CE4"/>
                </a:solidFill>
                <a:latin typeface="Microsoft YaHei"/>
                <a:ea typeface="Microsoft YaHei"/>
              </a:rPr>
              <a:t>已有证据</a:t>
            </a:r>
            <a:endParaRPr lang="zh-CN"/>
          </a:p>
        </p:txBody>
      </p:sp>
      <p:sp>
        <p:nvSpPr>
          <p:cNvPr id="9" name="content-9"/>
          <p:cNvSpPr txBox="1"/>
          <p:nvPr/>
        </p:nvSpPr>
        <p:spPr>
          <a:xfrm>
            <a:off x="660400" y="2743200"/>
            <a:ext cx="4445000" cy="146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2076 条可扫描序列均命中</a:t>
            </a:r>
            <a:endParaRPr lang="zh-CN"/>
          </a:p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PF00741。</a:t>
            </a:r>
            <a:endParaRPr lang="zh-CN"/>
          </a:p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家族注释没有功能差异标签。</a:t>
            </a:r>
            <a:endParaRPr lang="zh-CN"/>
          </a:p>
        </p:txBody>
      </p:sp>
      <p:sp>
        <p:nvSpPr>
          <p:cNvPr id="10" name="content-10"/>
          <p:cNvSpPr txBox="1"/>
          <p:nvPr/>
        </p:nvSpPr>
        <p:spPr>
          <a:xfrm>
            <a:off x="660400" y="4495800"/>
            <a:ext cx="4445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400" b="1">
                <a:solidFill>
                  <a:srgbClr val="317CE4"/>
                </a:solidFill>
                <a:latin typeface="Microsoft YaHei"/>
                <a:ea typeface="Microsoft YaHei"/>
              </a:rPr>
              <a:t>输出对象</a:t>
            </a:r>
            <a:endParaRPr lang="zh-CN"/>
          </a:p>
        </p:txBody>
      </p:sp>
      <p:sp>
        <p:nvSpPr>
          <p:cNvPr id="11" name="content-11"/>
          <p:cNvSpPr txBox="1"/>
          <p:nvPr/>
        </p:nvSpPr>
        <p:spPr>
          <a:xfrm>
            <a:off x="660400" y="5092700"/>
            <a:ext cx="4445000" cy="977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900">
                <a:solidFill>
                  <a:srgbClr val="4F627A"/>
                </a:solidFill>
                <a:latin typeface="Microsoft YaHei"/>
                <a:ea typeface="Microsoft YaHei"/>
              </a:rPr>
              <a:t>候选区域 + 关键位点 + 分项证据</a:t>
            </a:r>
            <a:endParaRPr lang="zh-CN"/>
          </a:p>
          <a:p>
            <a:pPr algn="l"/>
            <a:r>
              <a:rPr lang="zh-CN" sz="1900">
                <a:solidFill>
                  <a:srgbClr val="4F627A"/>
                </a:solidFill>
                <a:latin typeface="Microsoft YaHei"/>
                <a:ea typeface="Microsoft YaHei"/>
              </a:rPr>
              <a:t>保留未知与反证</a:t>
            </a:r>
            <a:endParaRPr lang="zh-CN"/>
          </a:p>
        </p:txBody>
      </p:sp>
      <p:sp>
        <p:nvSpPr>
          <p:cNvPr id="12" name="divider"/>
          <p:cNvSpPr/>
          <p:nvPr/>
        </p:nvSpPr>
        <p:spPr>
          <a:xfrm>
            <a:off x="5499100" y="2108200"/>
            <a:ext cx="25400" cy="39243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3" name="content-13"/>
          <p:cNvSpPr txBox="1"/>
          <p:nvPr/>
        </p:nvSpPr>
        <p:spPr>
          <a:xfrm>
            <a:off x="5918200" y="2209800"/>
            <a:ext cx="5689600" cy="977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200" b="1">
                <a:solidFill>
                  <a:srgbClr val="122037"/>
                </a:solidFill>
                <a:latin typeface="Microsoft YaHei"/>
                <a:ea typeface="Microsoft YaHei"/>
              </a:rPr>
              <a:t>RQ1  表征能否发现可定位的局部模式？</a:t>
            </a:r>
            <a:endParaRPr lang="zh-CN"/>
          </a:p>
        </p:txBody>
      </p:sp>
      <p:sp>
        <p:nvSpPr>
          <p:cNvPr id="14" name="content-14"/>
          <p:cNvSpPr txBox="1"/>
          <p:nvPr/>
        </p:nvSpPr>
        <p:spPr>
          <a:xfrm>
            <a:off x="5918200" y="3467100"/>
            <a:ext cx="5689600" cy="1054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200" b="1">
                <a:solidFill>
                  <a:srgbClr val="122037"/>
                </a:solidFill>
                <a:latin typeface="Microsoft YaHei"/>
                <a:ea typeface="Microsoft YaHei"/>
              </a:rPr>
              <a:t>RQ2  模式能否排除长度和位置混杂？</a:t>
            </a:r>
            <a:endParaRPr lang="zh-CN"/>
          </a:p>
        </p:txBody>
      </p:sp>
      <p:sp>
        <p:nvSpPr>
          <p:cNvPr id="15" name="content-15"/>
          <p:cNvSpPr txBox="1"/>
          <p:nvPr/>
        </p:nvSpPr>
        <p:spPr>
          <a:xfrm>
            <a:off x="5918200" y="4762500"/>
            <a:ext cx="56896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200" b="1">
                <a:solidFill>
                  <a:srgbClr val="122037"/>
                </a:solidFill>
                <a:latin typeface="Microsoft YaHei"/>
                <a:ea typeface="Microsoft YaHei"/>
              </a:rPr>
              <a:t>RQ3  候选有独立生物学证据吗？</a:t>
            </a:r>
            <a:endParaRPr lang="zh-CN"/>
          </a:p>
        </p:txBody>
      </p:sp>
      <p:sp>
        <p:nvSpPr>
          <p:cNvPr id="16" name="content-16"/>
          <p:cNvSpPr txBox="1"/>
          <p:nvPr/>
        </p:nvSpPr>
        <p:spPr>
          <a:xfrm>
            <a:off x="5918200" y="5473700"/>
            <a:ext cx="56896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>
                <a:solidFill>
                  <a:srgbClr val="4F627A"/>
                </a:solidFill>
                <a:latin typeface="Microsoft YaHei"/>
                <a:ea typeface="Microsoft YaHei"/>
              </a:rPr>
              <a:t>保守性 / 突变 / 结构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82600" y="393700"/>
            <a:ext cx="63500" cy="304800"/>
          </a:xfrm>
          <a:prstGeom prst="rect">
            <a:avLst/>
          </a:prstGeom>
          <a:solidFill>
            <a:srgbClr val="317CE4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660400" y="381000"/>
            <a:ext cx="8255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300" b="1">
                <a:solidFill>
                  <a:srgbClr val="317CE4"/>
                </a:solidFill>
                <a:latin typeface="Microsoft YaHei"/>
                <a:ea typeface="Microsoft YaHei"/>
              </a:rPr>
              <a:t>02 / M2 数据基础与 EDA</a:t>
            </a:r>
            <a:endParaRPr lang="zh-CN"/>
          </a:p>
        </p:txBody>
      </p:sp>
      <p:sp>
        <p:nvSpPr>
          <p:cNvPr id="4" name="title"/>
          <p:cNvSpPr txBox="1"/>
          <p:nvPr/>
        </p:nvSpPr>
        <p:spPr>
          <a:xfrm>
            <a:off x="482600" y="952500"/>
            <a:ext cx="1125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500" b="1">
                <a:solidFill>
                  <a:srgbClr val="122037"/>
                </a:solidFill>
                <a:latin typeface="Microsoft YaHei"/>
                <a:ea typeface="Microsoft YaHei"/>
              </a:rPr>
              <a:t>质量分层与同源隔离形成稳定实验输入</a:t>
            </a:r>
            <a:endParaRPr lang="zh-CN"/>
          </a:p>
        </p:txBody>
      </p:sp>
      <p:sp>
        <p:nvSpPr>
          <p:cNvPr id="5" name="footer-rule"/>
          <p:cNvSpPr/>
          <p:nvPr/>
        </p:nvSpPr>
        <p:spPr>
          <a:xfrm>
            <a:off x="482600" y="6299200"/>
            <a:ext cx="112268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6" name="footer"/>
          <p:cNvSpPr txBox="1"/>
          <p:nvPr/>
        </p:nvSpPr>
        <p:spPr>
          <a:xfrm>
            <a:off x="482600" y="6413500"/>
            <a:ext cx="558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GvpA · M3 中期汇报</a:t>
            </a:r>
            <a:endParaRPr lang="zh-CN"/>
          </a:p>
        </p:txBody>
      </p:sp>
      <p:sp>
        <p:nvSpPr>
          <p:cNvPr id="7" name="page"/>
          <p:cNvSpPr txBox="1"/>
          <p:nvPr/>
        </p:nvSpPr>
        <p:spPr>
          <a:xfrm>
            <a:off x="11290300" y="6413500"/>
            <a:ext cx="4191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03</a:t>
            </a:r>
            <a:endParaRPr lang="zh-CN"/>
          </a:p>
        </p:txBody>
      </p:sp>
      <p:sp>
        <p:nvSpPr>
          <p:cNvPr id="100" name="table-header"/>
          <p:cNvSpPr/>
          <p:nvPr/>
        </p:nvSpPr>
        <p:spPr>
          <a:xfrm>
            <a:off x="635000" y="2082800"/>
            <a:ext cx="7239000" cy="736600"/>
          </a:xfrm>
          <a:prstGeom prst="rect">
            <a:avLst/>
          </a:prstGeom>
          <a:solidFill>
            <a:srgbClr val="E7F2FD"/>
          </a:solidFill>
          <a:ln>
            <a:noFill/>
          </a:ln>
        </p:spPr>
      </p:sp>
      <p:sp>
        <p:nvSpPr>
          <p:cNvPr id="101" name="content-101"/>
          <p:cNvSpPr txBox="1"/>
          <p:nvPr/>
        </p:nvSpPr>
        <p:spPr>
          <a:xfrm>
            <a:off x="736600" y="2209800"/>
            <a:ext cx="4876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 b="1">
                <a:solidFill>
                  <a:srgbClr val="122037"/>
                </a:solidFill>
                <a:latin typeface="Microsoft YaHei"/>
                <a:ea typeface="Microsoft YaHei"/>
              </a:rPr>
              <a:t>2078 条去重候选</a:t>
            </a:r>
            <a:endParaRPr lang="zh-CN"/>
          </a:p>
        </p:txBody>
      </p:sp>
      <p:sp>
        <p:nvSpPr>
          <p:cNvPr id="102" name="content-102"/>
          <p:cNvSpPr txBox="1"/>
          <p:nvPr/>
        </p:nvSpPr>
        <p:spPr>
          <a:xfrm>
            <a:off x="5816600" y="2209800"/>
            <a:ext cx="1955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 b="1">
                <a:solidFill>
                  <a:srgbClr val="122037"/>
                </a:solidFill>
                <a:latin typeface="Microsoft YaHei"/>
                <a:ea typeface="Microsoft YaHei"/>
              </a:rPr>
              <a:t>数量</a:t>
            </a:r>
            <a:endParaRPr lang="zh-CN"/>
          </a:p>
        </p:txBody>
      </p:sp>
      <p:sp>
        <p:nvSpPr>
          <p:cNvPr id="103" name="table-rule"/>
          <p:cNvSpPr/>
          <p:nvPr/>
        </p:nvSpPr>
        <p:spPr>
          <a:xfrm>
            <a:off x="635000" y="2819400"/>
            <a:ext cx="72390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04" name="content-104"/>
          <p:cNvSpPr txBox="1"/>
          <p:nvPr/>
        </p:nvSpPr>
        <p:spPr>
          <a:xfrm>
            <a:off x="736600" y="2959100"/>
            <a:ext cx="4876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>
                <a:solidFill>
                  <a:srgbClr val="122037"/>
                </a:solidFill>
                <a:latin typeface="Microsoft YaHei"/>
                <a:ea typeface="Microsoft YaHei"/>
              </a:rPr>
              <a:t>主分析 primary</a:t>
            </a:r>
            <a:endParaRPr lang="zh-CN"/>
          </a:p>
        </p:txBody>
      </p:sp>
      <p:sp>
        <p:nvSpPr>
          <p:cNvPr id="105" name="content-105"/>
          <p:cNvSpPr txBox="1"/>
          <p:nvPr/>
        </p:nvSpPr>
        <p:spPr>
          <a:xfrm>
            <a:off x="5816600" y="2959100"/>
            <a:ext cx="1955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>
                <a:solidFill>
                  <a:srgbClr val="122037"/>
                </a:solidFill>
                <a:latin typeface="Microsoft YaHei"/>
                <a:ea typeface="Microsoft YaHei"/>
              </a:rPr>
              <a:t>1721</a:t>
            </a:r>
            <a:endParaRPr lang="zh-CN"/>
          </a:p>
        </p:txBody>
      </p:sp>
      <p:sp>
        <p:nvSpPr>
          <p:cNvPr id="106" name="table-rule"/>
          <p:cNvSpPr/>
          <p:nvPr/>
        </p:nvSpPr>
        <p:spPr>
          <a:xfrm>
            <a:off x="635000" y="3556000"/>
            <a:ext cx="72390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07" name="content-107"/>
          <p:cNvSpPr txBox="1"/>
          <p:nvPr/>
        </p:nvSpPr>
        <p:spPr>
          <a:xfrm>
            <a:off x="736600" y="3695700"/>
            <a:ext cx="4876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>
                <a:solidFill>
                  <a:srgbClr val="122037"/>
                </a:solidFill>
                <a:latin typeface="Microsoft YaHei"/>
                <a:ea typeface="Microsoft YaHei"/>
              </a:rPr>
              <a:t>partial / 类型冲突 / 两者并存</a:t>
            </a:r>
            <a:endParaRPr lang="zh-CN"/>
          </a:p>
        </p:txBody>
      </p:sp>
      <p:sp>
        <p:nvSpPr>
          <p:cNvPr id="108" name="content-108"/>
          <p:cNvSpPr txBox="1"/>
          <p:nvPr/>
        </p:nvSpPr>
        <p:spPr>
          <a:xfrm>
            <a:off x="5816600" y="3695700"/>
            <a:ext cx="1955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>
                <a:solidFill>
                  <a:srgbClr val="122037"/>
                </a:solidFill>
                <a:latin typeface="Microsoft YaHei"/>
                <a:ea typeface="Microsoft YaHei"/>
              </a:rPr>
              <a:t>20 / 305 / 30</a:t>
            </a:r>
            <a:endParaRPr lang="zh-CN"/>
          </a:p>
        </p:txBody>
      </p:sp>
      <p:sp>
        <p:nvSpPr>
          <p:cNvPr id="109" name="table-rule"/>
          <p:cNvSpPr/>
          <p:nvPr/>
        </p:nvSpPr>
        <p:spPr>
          <a:xfrm>
            <a:off x="635000" y="4292600"/>
            <a:ext cx="72390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10" name="content-110"/>
          <p:cNvSpPr txBox="1"/>
          <p:nvPr/>
        </p:nvSpPr>
        <p:spPr>
          <a:xfrm>
            <a:off x="736600" y="4432300"/>
            <a:ext cx="4876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>
                <a:solidFill>
                  <a:srgbClr val="122037"/>
                </a:solidFill>
                <a:latin typeface="Microsoft YaHei"/>
                <a:ea typeface="Microsoft YaHei"/>
              </a:rPr>
              <a:t>QC 排除</a:t>
            </a:r>
            <a:endParaRPr lang="zh-CN"/>
          </a:p>
        </p:txBody>
      </p:sp>
      <p:sp>
        <p:nvSpPr>
          <p:cNvPr id="111" name="content-111"/>
          <p:cNvSpPr txBox="1"/>
          <p:nvPr/>
        </p:nvSpPr>
        <p:spPr>
          <a:xfrm>
            <a:off x="5816600" y="4432300"/>
            <a:ext cx="1955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>
                <a:solidFill>
                  <a:srgbClr val="122037"/>
                </a:solidFill>
                <a:latin typeface="Microsoft YaHei"/>
                <a:ea typeface="Microsoft YaHei"/>
              </a:rPr>
              <a:t>2</a:t>
            </a:r>
            <a:endParaRPr lang="zh-CN"/>
          </a:p>
        </p:txBody>
      </p:sp>
      <p:sp>
        <p:nvSpPr>
          <p:cNvPr id="112" name="table-last-rule"/>
          <p:cNvSpPr/>
          <p:nvPr/>
        </p:nvSpPr>
        <p:spPr>
          <a:xfrm>
            <a:off x="635000" y="5029200"/>
            <a:ext cx="72390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8" name="content-8"/>
          <p:cNvSpPr txBox="1"/>
          <p:nvPr/>
        </p:nvSpPr>
        <p:spPr>
          <a:xfrm>
            <a:off x="8394700" y="2146300"/>
            <a:ext cx="31369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400" b="1">
                <a:solidFill>
                  <a:srgbClr val="317CE4"/>
                </a:solidFill>
                <a:latin typeface="Microsoft YaHei"/>
                <a:ea typeface="Microsoft YaHei"/>
              </a:rPr>
              <a:t>同源划分</a:t>
            </a:r>
            <a:endParaRPr lang="zh-CN"/>
          </a:p>
        </p:txBody>
      </p:sp>
      <p:sp>
        <p:nvSpPr>
          <p:cNvPr id="9" name="content-9"/>
          <p:cNvSpPr txBox="1"/>
          <p:nvPr/>
        </p:nvSpPr>
        <p:spPr>
          <a:xfrm>
            <a:off x="8394700" y="2781300"/>
            <a:ext cx="31242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478 个同源簇</a:t>
            </a:r>
            <a:endParaRPr lang="zh-CN"/>
          </a:p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跨 split 簇泄漏：0</a:t>
            </a:r>
            <a:endParaRPr lang="zh-CN"/>
          </a:p>
        </p:txBody>
      </p:sp>
      <p:sp>
        <p:nvSpPr>
          <p:cNvPr id="10" name="content-10"/>
          <p:cNvSpPr txBox="1"/>
          <p:nvPr/>
        </p:nvSpPr>
        <p:spPr>
          <a:xfrm>
            <a:off x="8394700" y="4076700"/>
            <a:ext cx="31242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900">
                <a:solidFill>
                  <a:srgbClr val="4F627A"/>
                </a:solidFill>
                <a:latin typeface="Microsoft YaHei"/>
                <a:ea typeface="Microsoft YaHei"/>
              </a:rPr>
              <a:t>全部可扫描序列</a:t>
            </a:r>
            <a:endParaRPr lang="zh-CN"/>
          </a:p>
        </p:txBody>
      </p:sp>
      <p:sp>
        <p:nvSpPr>
          <p:cNvPr id="11" name="content-11"/>
          <p:cNvSpPr txBox="1"/>
          <p:nvPr/>
        </p:nvSpPr>
        <p:spPr>
          <a:xfrm>
            <a:off x="8394700" y="4635500"/>
            <a:ext cx="3175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000" b="1">
                <a:solidFill>
                  <a:srgbClr val="317CE4"/>
                </a:solidFill>
                <a:latin typeface="Microsoft YaHei"/>
                <a:ea typeface="Microsoft YaHei"/>
              </a:rPr>
              <a:t>1453 / 623</a:t>
            </a:r>
            <a:endParaRPr lang="zh-CN"/>
          </a:p>
        </p:txBody>
      </p:sp>
      <p:sp>
        <p:nvSpPr>
          <p:cNvPr id="12" name="content-12"/>
          <p:cNvSpPr txBox="1"/>
          <p:nvPr/>
        </p:nvSpPr>
        <p:spPr>
          <a:xfrm>
            <a:off x="8394700" y="5283200"/>
            <a:ext cx="33020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00">
                <a:solidFill>
                  <a:srgbClr val="122037"/>
                </a:solidFill>
                <a:latin typeface="Microsoft YaHei"/>
                <a:ea typeface="Microsoft YaHei"/>
              </a:rPr>
              <a:t>discovery / validation</a:t>
            </a:r>
            <a:endParaRPr lang="zh-CN"/>
          </a:p>
        </p:txBody>
      </p:sp>
      <p:sp>
        <p:nvSpPr>
          <p:cNvPr id="13" name="content-13"/>
          <p:cNvSpPr txBox="1"/>
          <p:nvPr/>
        </p:nvSpPr>
        <p:spPr>
          <a:xfrm>
            <a:off x="660400" y="5511800"/>
            <a:ext cx="7239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4F627A"/>
                </a:solidFill>
                <a:latin typeface="Microsoft YaHei"/>
                <a:ea typeface="Microsoft YaHei"/>
              </a:rPr>
              <a:t>主分析：1202 discovery / 519 validation；敏感性队列单独诊断。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82600" y="393700"/>
            <a:ext cx="63500" cy="304800"/>
          </a:xfrm>
          <a:prstGeom prst="rect">
            <a:avLst/>
          </a:prstGeom>
          <a:solidFill>
            <a:srgbClr val="317CE4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660400" y="381000"/>
            <a:ext cx="8255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300" b="1">
                <a:solidFill>
                  <a:srgbClr val="317CE4"/>
                </a:solidFill>
                <a:latin typeface="Microsoft YaHei"/>
                <a:ea typeface="Microsoft YaHei"/>
              </a:rPr>
              <a:t>03 / 模型定制设计</a:t>
            </a:r>
            <a:endParaRPr lang="zh-CN"/>
          </a:p>
        </p:txBody>
      </p:sp>
      <p:sp>
        <p:nvSpPr>
          <p:cNvPr id="4" name="title"/>
          <p:cNvSpPr txBox="1"/>
          <p:nvPr/>
        </p:nvSpPr>
        <p:spPr>
          <a:xfrm>
            <a:off x="482600" y="952500"/>
            <a:ext cx="1125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500" b="1">
                <a:solidFill>
                  <a:srgbClr val="122037"/>
                </a:solidFill>
                <a:latin typeface="Microsoft YaHei"/>
                <a:ea typeface="Microsoft YaHei"/>
              </a:rPr>
              <a:t>保留序列上下文，再分析局部残基表示</a:t>
            </a:r>
            <a:endParaRPr lang="zh-CN"/>
          </a:p>
        </p:txBody>
      </p:sp>
      <p:sp>
        <p:nvSpPr>
          <p:cNvPr id="5" name="footer-rule"/>
          <p:cNvSpPr/>
          <p:nvPr/>
        </p:nvSpPr>
        <p:spPr>
          <a:xfrm>
            <a:off x="482600" y="6299200"/>
            <a:ext cx="112268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6" name="footer"/>
          <p:cNvSpPr txBox="1"/>
          <p:nvPr/>
        </p:nvSpPr>
        <p:spPr>
          <a:xfrm>
            <a:off x="482600" y="6413500"/>
            <a:ext cx="558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GvpA · M3 中期汇报</a:t>
            </a:r>
            <a:endParaRPr lang="zh-CN"/>
          </a:p>
        </p:txBody>
      </p:sp>
      <p:sp>
        <p:nvSpPr>
          <p:cNvPr id="7" name="page"/>
          <p:cNvSpPr txBox="1"/>
          <p:nvPr/>
        </p:nvSpPr>
        <p:spPr>
          <a:xfrm>
            <a:off x="11290300" y="6413500"/>
            <a:ext cx="4191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04</a:t>
            </a:r>
            <a:endParaRPr lang="zh-CN"/>
          </a:p>
        </p:txBody>
      </p:sp>
      <p:sp>
        <p:nvSpPr>
          <p:cNvPr id="8" name="content-8"/>
          <p:cNvSpPr txBox="1"/>
          <p:nvPr/>
        </p:nvSpPr>
        <p:spPr>
          <a:xfrm>
            <a:off x="673100" y="2209800"/>
            <a:ext cx="3492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600" b="1">
                <a:solidFill>
                  <a:srgbClr val="317CE4"/>
                </a:solidFill>
                <a:latin typeface="Microsoft YaHei"/>
                <a:ea typeface="Microsoft YaHei"/>
              </a:rPr>
              <a:t>ESM-2 35M</a:t>
            </a:r>
            <a:endParaRPr lang="zh-CN"/>
          </a:p>
        </p:txBody>
      </p:sp>
      <p:sp>
        <p:nvSpPr>
          <p:cNvPr id="9" name="content-9"/>
          <p:cNvSpPr txBox="1"/>
          <p:nvPr/>
        </p:nvSpPr>
        <p:spPr>
          <a:xfrm>
            <a:off x="673100" y="2933700"/>
            <a:ext cx="3441700" cy="151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整条序列输入</a:t>
            </a:r>
            <a:endParaRPr lang="zh-CN"/>
          </a:p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第 12 层残基向量</a:t>
            </a:r>
            <a:endParaRPr lang="zh-CN"/>
          </a:p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每个残基 480 维</a:t>
            </a:r>
            <a:endParaRPr lang="zh-CN"/>
          </a:p>
        </p:txBody>
      </p:sp>
      <p:sp>
        <p:nvSpPr>
          <p:cNvPr id="10" name="content-10"/>
          <p:cNvSpPr txBox="1"/>
          <p:nvPr/>
        </p:nvSpPr>
        <p:spPr>
          <a:xfrm>
            <a:off x="4495800" y="2209800"/>
            <a:ext cx="3403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600" b="1">
                <a:solidFill>
                  <a:srgbClr val="317CE4"/>
                </a:solidFill>
                <a:latin typeface="Microsoft YaHei"/>
                <a:ea typeface="Microsoft YaHei"/>
              </a:rPr>
              <a:t>窗口表示</a:t>
            </a:r>
            <a:endParaRPr lang="zh-CN"/>
          </a:p>
        </p:txBody>
      </p:sp>
      <p:sp>
        <p:nvSpPr>
          <p:cNvPr id="11" name="content-11"/>
          <p:cNvSpPr txBox="1"/>
          <p:nvPr/>
        </p:nvSpPr>
        <p:spPr>
          <a:xfrm>
            <a:off x="4495800" y="2933700"/>
            <a:ext cx="3403600" cy="151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30 aa / 步长 5 aa</a:t>
            </a:r>
            <a:endParaRPr lang="zh-CN"/>
          </a:p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窗口内 mean pooling</a:t>
            </a:r>
            <a:endParaRPr lang="zh-CN"/>
          </a:p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24,581 个窗口</a:t>
            </a:r>
            <a:endParaRPr lang="zh-CN"/>
          </a:p>
        </p:txBody>
      </p:sp>
      <p:sp>
        <p:nvSpPr>
          <p:cNvPr id="12" name="content-12"/>
          <p:cNvSpPr txBox="1"/>
          <p:nvPr/>
        </p:nvSpPr>
        <p:spPr>
          <a:xfrm>
            <a:off x="8318500" y="2209800"/>
            <a:ext cx="3429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400" b="1">
                <a:solidFill>
                  <a:srgbClr val="317CE4"/>
                </a:solidFill>
                <a:latin typeface="Microsoft YaHei"/>
                <a:ea typeface="Microsoft YaHei"/>
              </a:rPr>
              <a:t>PCA + HDBSCAN</a:t>
            </a:r>
            <a:endParaRPr lang="zh-CN"/>
          </a:p>
        </p:txBody>
      </p:sp>
      <p:sp>
        <p:nvSpPr>
          <p:cNvPr id="13" name="content-13"/>
          <p:cNvSpPr txBox="1"/>
          <p:nvPr/>
        </p:nvSpPr>
        <p:spPr>
          <a:xfrm>
            <a:off x="8318500" y="2933700"/>
            <a:ext cx="3429000" cy="151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900">
                <a:solidFill>
                  <a:srgbClr val="122037"/>
                </a:solidFill>
                <a:latin typeface="Microsoft YaHei"/>
                <a:ea typeface="Microsoft YaHei"/>
              </a:rPr>
              <a:t>PCA 20 维</a:t>
            </a:r>
            <a:endParaRPr lang="zh-CN"/>
          </a:p>
          <a:p>
            <a:pPr algn="l"/>
            <a:r>
              <a:rPr lang="zh-CN" sz="1900">
                <a:solidFill>
                  <a:srgbClr val="122037"/>
                </a:solidFill>
                <a:latin typeface="Microsoft YaHei"/>
                <a:ea typeface="Microsoft YaHei"/>
              </a:rPr>
              <a:t>min_cluster_size = 50</a:t>
            </a:r>
            <a:endParaRPr lang="zh-CN"/>
          </a:p>
          <a:p>
            <a:pPr algn="l"/>
            <a:r>
              <a:rPr lang="zh-CN" sz="1900">
                <a:solidFill>
                  <a:srgbClr val="122037"/>
                </a:solidFill>
                <a:latin typeface="Microsoft YaHei"/>
                <a:ea typeface="Microsoft YaHei"/>
              </a:rPr>
              <a:t>min_samples = 10</a:t>
            </a:r>
            <a:endParaRPr lang="zh-CN"/>
          </a:p>
        </p:txBody>
      </p:sp>
      <p:sp>
        <p:nvSpPr>
          <p:cNvPr id="14" name="method-rule"/>
          <p:cNvSpPr/>
          <p:nvPr/>
        </p:nvSpPr>
        <p:spPr>
          <a:xfrm>
            <a:off x="660400" y="4648200"/>
            <a:ext cx="108585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5" name="content-15"/>
          <p:cNvSpPr txBox="1"/>
          <p:nvPr/>
        </p:nvSpPr>
        <p:spPr>
          <a:xfrm>
            <a:off x="673100" y="4927600"/>
            <a:ext cx="107823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>
                <a:solidFill>
                  <a:srgbClr val="122037"/>
                </a:solidFill>
                <a:latin typeface="Microsoft YaHei"/>
                <a:ea typeface="Microsoft YaHei"/>
              </a:rPr>
              <a:t>定制点：窗口同时保存原序列坐标与 HMM 状态；排除特殊 token。</a:t>
            </a:r>
            <a:endParaRPr lang="zh-CN"/>
          </a:p>
        </p:txBody>
      </p:sp>
      <p:sp>
        <p:nvSpPr>
          <p:cNvPr id="16" name="content-16"/>
          <p:cNvSpPr txBox="1"/>
          <p:nvPr/>
        </p:nvSpPr>
        <p:spPr>
          <a:xfrm>
            <a:off x="673100" y="5702300"/>
            <a:ext cx="107823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00">
                <a:solidFill>
                  <a:srgbClr val="4F627A"/>
                </a:solidFill>
                <a:latin typeface="Microsoft YaHei"/>
                <a:ea typeface="Microsoft YaHei"/>
              </a:rPr>
              <a:t>使用预训练表征，无微调；UMAP 仅展示；seed = 42，全部拟合限于 discovery。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82600" y="393700"/>
            <a:ext cx="63500" cy="304800"/>
          </a:xfrm>
          <a:prstGeom prst="rect">
            <a:avLst/>
          </a:prstGeom>
          <a:solidFill>
            <a:srgbClr val="317CE4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660400" y="381000"/>
            <a:ext cx="8255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300" b="1">
                <a:solidFill>
                  <a:srgbClr val="317CE4"/>
                </a:solidFill>
                <a:latin typeface="Microsoft YaHei"/>
                <a:ea typeface="Microsoft YaHei"/>
              </a:rPr>
              <a:t>04 / Baseline 实现与对照</a:t>
            </a:r>
            <a:endParaRPr lang="zh-CN"/>
          </a:p>
        </p:txBody>
      </p:sp>
      <p:sp>
        <p:nvSpPr>
          <p:cNvPr id="4" name="title"/>
          <p:cNvSpPr txBox="1"/>
          <p:nvPr/>
        </p:nvSpPr>
        <p:spPr>
          <a:xfrm>
            <a:off x="482600" y="952500"/>
            <a:ext cx="1125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500" b="1">
                <a:solidFill>
                  <a:srgbClr val="122037"/>
                </a:solidFill>
                <a:latin typeface="Microsoft YaHei"/>
                <a:ea typeface="Microsoft YaHei"/>
              </a:rPr>
              <a:t>与组成基线比较，评价聚类而非功能准确率</a:t>
            </a:r>
            <a:endParaRPr lang="zh-CN"/>
          </a:p>
        </p:txBody>
      </p:sp>
      <p:sp>
        <p:nvSpPr>
          <p:cNvPr id="5" name="footer-rule"/>
          <p:cNvSpPr/>
          <p:nvPr/>
        </p:nvSpPr>
        <p:spPr>
          <a:xfrm>
            <a:off x="482600" y="6299200"/>
            <a:ext cx="112268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6" name="footer"/>
          <p:cNvSpPr txBox="1"/>
          <p:nvPr/>
        </p:nvSpPr>
        <p:spPr>
          <a:xfrm>
            <a:off x="482600" y="6413500"/>
            <a:ext cx="558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GvpA · M3 中期汇报</a:t>
            </a:r>
            <a:endParaRPr lang="zh-CN"/>
          </a:p>
        </p:txBody>
      </p:sp>
      <p:sp>
        <p:nvSpPr>
          <p:cNvPr id="7" name="page"/>
          <p:cNvSpPr txBox="1"/>
          <p:nvPr/>
        </p:nvSpPr>
        <p:spPr>
          <a:xfrm>
            <a:off x="11290300" y="6413500"/>
            <a:ext cx="4191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05</a:t>
            </a:r>
            <a:endParaRPr lang="zh-CN"/>
          </a:p>
        </p:txBody>
      </p:sp>
      <p:sp>
        <p:nvSpPr>
          <p:cNvPr id="100" name="table-header"/>
          <p:cNvSpPr/>
          <p:nvPr/>
        </p:nvSpPr>
        <p:spPr>
          <a:xfrm>
            <a:off x="673100" y="2095500"/>
            <a:ext cx="10820400" cy="685800"/>
          </a:xfrm>
          <a:prstGeom prst="rect">
            <a:avLst/>
          </a:prstGeom>
          <a:solidFill>
            <a:srgbClr val="E7F2FD"/>
          </a:solidFill>
          <a:ln>
            <a:noFill/>
          </a:ln>
        </p:spPr>
      </p:sp>
      <p:sp>
        <p:nvSpPr>
          <p:cNvPr id="101" name="content-101"/>
          <p:cNvSpPr txBox="1"/>
          <p:nvPr/>
        </p:nvSpPr>
        <p:spPr>
          <a:xfrm>
            <a:off x="774700" y="2222500"/>
            <a:ext cx="3683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 b="1">
                <a:solidFill>
                  <a:srgbClr val="122037"/>
                </a:solidFill>
                <a:latin typeface="Microsoft YaHei"/>
                <a:ea typeface="Microsoft YaHei"/>
              </a:rPr>
              <a:t>同一 discovery 窗口</a:t>
            </a:r>
            <a:endParaRPr lang="zh-CN"/>
          </a:p>
        </p:txBody>
      </p:sp>
      <p:sp>
        <p:nvSpPr>
          <p:cNvPr id="102" name="content-102"/>
          <p:cNvSpPr txBox="1"/>
          <p:nvPr/>
        </p:nvSpPr>
        <p:spPr>
          <a:xfrm>
            <a:off x="4660900" y="2222500"/>
            <a:ext cx="32639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 b="1">
                <a:solidFill>
                  <a:srgbClr val="122037"/>
                </a:solidFill>
                <a:latin typeface="Microsoft YaHei"/>
                <a:ea typeface="Microsoft YaHei"/>
              </a:rPr>
              <a:t>ESM-2</a:t>
            </a:r>
            <a:endParaRPr lang="zh-CN"/>
          </a:p>
        </p:txBody>
      </p:sp>
      <p:sp>
        <p:nvSpPr>
          <p:cNvPr id="103" name="content-103"/>
          <p:cNvSpPr txBox="1"/>
          <p:nvPr/>
        </p:nvSpPr>
        <p:spPr>
          <a:xfrm>
            <a:off x="8128000" y="2222500"/>
            <a:ext cx="32639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 b="1">
                <a:solidFill>
                  <a:srgbClr val="122037"/>
                </a:solidFill>
                <a:latin typeface="Microsoft YaHei"/>
                <a:ea typeface="Microsoft YaHei"/>
              </a:rPr>
              <a:t>氨基酸组成</a:t>
            </a:r>
            <a:endParaRPr lang="zh-CN"/>
          </a:p>
        </p:txBody>
      </p:sp>
      <p:sp>
        <p:nvSpPr>
          <p:cNvPr id="104" name="table-rule"/>
          <p:cNvSpPr/>
          <p:nvPr/>
        </p:nvSpPr>
        <p:spPr>
          <a:xfrm>
            <a:off x="673100" y="2781300"/>
            <a:ext cx="108204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05" name="content-105"/>
          <p:cNvSpPr txBox="1"/>
          <p:nvPr/>
        </p:nvSpPr>
        <p:spPr>
          <a:xfrm>
            <a:off x="774700" y="2921000"/>
            <a:ext cx="3683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窗口特征维度</a:t>
            </a:r>
            <a:endParaRPr lang="zh-CN"/>
          </a:p>
        </p:txBody>
      </p:sp>
      <p:sp>
        <p:nvSpPr>
          <p:cNvPr id="106" name="content-106"/>
          <p:cNvSpPr txBox="1"/>
          <p:nvPr/>
        </p:nvSpPr>
        <p:spPr>
          <a:xfrm>
            <a:off x="4660900" y="2921000"/>
            <a:ext cx="32639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480</a:t>
            </a:r>
            <a:endParaRPr lang="zh-CN"/>
          </a:p>
        </p:txBody>
      </p:sp>
      <p:sp>
        <p:nvSpPr>
          <p:cNvPr id="107" name="content-107"/>
          <p:cNvSpPr txBox="1"/>
          <p:nvPr/>
        </p:nvSpPr>
        <p:spPr>
          <a:xfrm>
            <a:off x="8128000" y="2921000"/>
            <a:ext cx="32639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20</a:t>
            </a:r>
            <a:endParaRPr lang="zh-CN"/>
          </a:p>
        </p:txBody>
      </p:sp>
      <p:sp>
        <p:nvSpPr>
          <p:cNvPr id="108" name="table-rule"/>
          <p:cNvSpPr/>
          <p:nvPr/>
        </p:nvSpPr>
        <p:spPr>
          <a:xfrm>
            <a:off x="673100" y="3467100"/>
            <a:ext cx="108204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09" name="content-109"/>
          <p:cNvSpPr txBox="1"/>
          <p:nvPr/>
        </p:nvSpPr>
        <p:spPr>
          <a:xfrm>
            <a:off x="774700" y="3606800"/>
            <a:ext cx="3683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主配置簇数</a:t>
            </a:r>
            <a:endParaRPr lang="zh-CN"/>
          </a:p>
        </p:txBody>
      </p:sp>
      <p:sp>
        <p:nvSpPr>
          <p:cNvPr id="110" name="content-110"/>
          <p:cNvSpPr txBox="1"/>
          <p:nvPr/>
        </p:nvSpPr>
        <p:spPr>
          <a:xfrm>
            <a:off x="4660900" y="3606800"/>
            <a:ext cx="32639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4</a:t>
            </a:r>
            <a:endParaRPr lang="zh-CN"/>
          </a:p>
        </p:txBody>
      </p:sp>
      <p:sp>
        <p:nvSpPr>
          <p:cNvPr id="111" name="content-111"/>
          <p:cNvSpPr txBox="1"/>
          <p:nvPr/>
        </p:nvSpPr>
        <p:spPr>
          <a:xfrm>
            <a:off x="8128000" y="3606800"/>
            <a:ext cx="32639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74</a:t>
            </a:r>
            <a:endParaRPr lang="zh-CN"/>
          </a:p>
        </p:txBody>
      </p:sp>
      <p:sp>
        <p:nvSpPr>
          <p:cNvPr id="112" name="table-rule"/>
          <p:cNvSpPr/>
          <p:nvPr/>
        </p:nvSpPr>
        <p:spPr>
          <a:xfrm>
            <a:off x="673100" y="4152900"/>
            <a:ext cx="108204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13" name="content-113"/>
          <p:cNvSpPr txBox="1"/>
          <p:nvPr/>
        </p:nvSpPr>
        <p:spPr>
          <a:xfrm>
            <a:off x="774700" y="4292600"/>
            <a:ext cx="3683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噪声窗口比例</a:t>
            </a:r>
            <a:endParaRPr lang="zh-CN"/>
          </a:p>
        </p:txBody>
      </p:sp>
      <p:sp>
        <p:nvSpPr>
          <p:cNvPr id="114" name="content-114"/>
          <p:cNvSpPr txBox="1"/>
          <p:nvPr/>
        </p:nvSpPr>
        <p:spPr>
          <a:xfrm>
            <a:off x="4660900" y="4292600"/>
            <a:ext cx="32639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30.68%</a:t>
            </a:r>
            <a:endParaRPr lang="zh-CN"/>
          </a:p>
        </p:txBody>
      </p:sp>
      <p:sp>
        <p:nvSpPr>
          <p:cNvPr id="115" name="content-115"/>
          <p:cNvSpPr txBox="1"/>
          <p:nvPr/>
        </p:nvSpPr>
        <p:spPr>
          <a:xfrm>
            <a:off x="8128000" y="4292600"/>
            <a:ext cx="32639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68.33%</a:t>
            </a:r>
            <a:endParaRPr lang="zh-CN"/>
          </a:p>
        </p:txBody>
      </p:sp>
      <p:sp>
        <p:nvSpPr>
          <p:cNvPr id="116" name="table-last-rule"/>
          <p:cNvSpPr/>
          <p:nvPr/>
        </p:nvSpPr>
        <p:spPr>
          <a:xfrm>
            <a:off x="673100" y="4838700"/>
            <a:ext cx="108204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8" name="content-8"/>
          <p:cNvSpPr txBox="1"/>
          <p:nvPr/>
        </p:nvSpPr>
        <p:spPr>
          <a:xfrm>
            <a:off x="698500" y="5092700"/>
            <a:ext cx="107315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 b="1">
                <a:solidFill>
                  <a:srgbClr val="317CE4"/>
                </a:solidFill>
                <a:latin typeface="Microsoft YaHei"/>
                <a:ea typeface="Microsoft YaHei"/>
              </a:rPr>
              <a:t>分簇一致性 ARI = −0.0687；两种表示得到明显不同的划分。</a:t>
            </a:r>
            <a:endParaRPr lang="zh-CN"/>
          </a:p>
        </p:txBody>
      </p:sp>
      <p:sp>
        <p:nvSpPr>
          <p:cNvPr id="9" name="content-9"/>
          <p:cNvSpPr txBox="1"/>
          <p:nvPr/>
        </p:nvSpPr>
        <p:spPr>
          <a:xfrm>
            <a:off x="698500" y="5753100"/>
            <a:ext cx="107315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4F627A"/>
                </a:solidFill>
                <a:latin typeface="Microsoft YaHei"/>
                <a:ea typeface="Microsoft YaHei"/>
              </a:rPr>
              <a:t>噪声比例更低不等于功能识别更好；尚无功能真值可计算准确率。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82600" y="393700"/>
            <a:ext cx="63500" cy="304800"/>
          </a:xfrm>
          <a:prstGeom prst="rect">
            <a:avLst/>
          </a:prstGeom>
          <a:solidFill>
            <a:srgbClr val="317CE4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660400" y="381000"/>
            <a:ext cx="8255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300" b="1">
                <a:solidFill>
                  <a:srgbClr val="317CE4"/>
                </a:solidFill>
                <a:latin typeface="Microsoft YaHei"/>
                <a:ea typeface="Microsoft YaHei"/>
              </a:rPr>
              <a:t>05 / 初步发现实验</a:t>
            </a:r>
            <a:endParaRPr lang="zh-CN"/>
          </a:p>
        </p:txBody>
      </p:sp>
      <p:sp>
        <p:nvSpPr>
          <p:cNvPr id="4" name="title"/>
          <p:cNvSpPr txBox="1"/>
          <p:nvPr/>
        </p:nvSpPr>
        <p:spPr>
          <a:xfrm>
            <a:off x="482600" y="952500"/>
            <a:ext cx="1125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500" b="1">
                <a:solidFill>
                  <a:srgbClr val="122037"/>
                </a:solidFill>
                <a:latin typeface="Microsoft YaHei"/>
                <a:ea typeface="Microsoft YaHei"/>
              </a:rPr>
              <a:t>簇 3 有区域集中信号，暂列探索性候选</a:t>
            </a:r>
            <a:endParaRPr lang="zh-CN"/>
          </a:p>
        </p:txBody>
      </p:sp>
      <p:sp>
        <p:nvSpPr>
          <p:cNvPr id="5" name="footer-rule"/>
          <p:cNvSpPr/>
          <p:nvPr/>
        </p:nvSpPr>
        <p:spPr>
          <a:xfrm>
            <a:off x="482600" y="6299200"/>
            <a:ext cx="112268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6" name="footer"/>
          <p:cNvSpPr txBox="1"/>
          <p:nvPr/>
        </p:nvSpPr>
        <p:spPr>
          <a:xfrm>
            <a:off x="482600" y="6413500"/>
            <a:ext cx="558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GvpA · M3 中期汇报</a:t>
            </a:r>
            <a:endParaRPr lang="zh-CN"/>
          </a:p>
        </p:txBody>
      </p:sp>
      <p:sp>
        <p:nvSpPr>
          <p:cNvPr id="7" name="page"/>
          <p:cNvSpPr txBox="1"/>
          <p:nvPr/>
        </p:nvSpPr>
        <p:spPr>
          <a:xfrm>
            <a:off x="11290300" y="6413500"/>
            <a:ext cx="4191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06</a:t>
            </a:r>
            <a:endParaRPr lang="zh-CN"/>
          </a:p>
        </p:txBody>
      </p:sp>
      <p:sp>
        <p:nvSpPr>
          <p:cNvPr id="8" name="content-8"/>
          <p:cNvSpPr txBox="1"/>
          <p:nvPr/>
        </p:nvSpPr>
        <p:spPr>
          <a:xfrm>
            <a:off x="660400" y="2133600"/>
            <a:ext cx="5410200" cy="59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200" b="1">
                <a:solidFill>
                  <a:srgbClr val="317CE4"/>
                </a:solidFill>
                <a:latin typeface="Microsoft YaHei"/>
                <a:ea typeface="Microsoft YaHei"/>
              </a:rPr>
              <a:t>簇 3：2216 窗口 / 265 序列</a:t>
            </a:r>
            <a:endParaRPr lang="zh-CN"/>
          </a:p>
        </p:txBody>
      </p:sp>
      <p:sp>
        <p:nvSpPr>
          <p:cNvPr id="9" name="content-9"/>
          <p:cNvSpPr txBox="1"/>
          <p:nvPr/>
        </p:nvSpPr>
        <p:spPr>
          <a:xfrm>
            <a:off x="660400" y="2959100"/>
            <a:ext cx="5346700" cy="113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多数支持的 HMM 区间：14–39</a:t>
            </a:r>
            <a:endParaRPr lang="zh-CN"/>
          </a:p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state 25 覆盖率：63.94%</a:t>
            </a:r>
            <a:endParaRPr lang="zh-CN"/>
          </a:p>
        </p:txBody>
      </p:sp>
      <p:sp>
        <p:nvSpPr>
          <p:cNvPr id="10" name="content-10"/>
          <p:cNvSpPr txBox="1"/>
          <p:nvPr/>
        </p:nvSpPr>
        <p:spPr>
          <a:xfrm>
            <a:off x="660400" y="4356100"/>
            <a:ext cx="53467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900">
                <a:solidFill>
                  <a:srgbClr val="122037"/>
                </a:solidFill>
                <a:latin typeface="Microsoft YaHei"/>
                <a:ea typeface="Microsoft YaHei"/>
              </a:rPr>
              <a:t>匹配随机窗口：50 次诊断</a:t>
            </a:r>
            <a:endParaRPr lang="zh-CN"/>
          </a:p>
          <a:p>
            <a:pPr algn="l"/>
            <a:r>
              <a:rPr lang="zh-CN" sz="1900">
                <a:solidFill>
                  <a:srgbClr val="122037"/>
                </a:solidFill>
                <a:latin typeface="Microsoft YaHei"/>
                <a:ea typeface="Microsoft YaHei"/>
              </a:rPr>
              <a:t>95% 分位：59.91%</a:t>
            </a:r>
            <a:endParaRPr lang="zh-CN"/>
          </a:p>
        </p:txBody>
      </p:sp>
      <p:sp>
        <p:nvSpPr>
          <p:cNvPr id="11" name="content-11"/>
          <p:cNvSpPr txBox="1"/>
          <p:nvPr/>
        </p:nvSpPr>
        <p:spPr>
          <a:xfrm>
            <a:off x="660400" y="5562600"/>
            <a:ext cx="53467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00">
                <a:solidFill>
                  <a:srgbClr val="B83837"/>
                </a:solidFill>
                <a:latin typeface="Microsoft YaHei"/>
                <a:ea typeface="Microsoft YaHei"/>
              </a:rPr>
              <a:t>重叠窗口非独立样本；该差异仅供探索，不能作功能显著性结论。</a:t>
            </a:r>
            <a:endParaRPr lang="zh-CN"/>
          </a:p>
        </p:txBody>
      </p:sp>
      <p:pic>
        <p:nvPicPr>
          <p:cNvPr id="12" name="discovery-umap"/>
          <p:cNvPicPr>
            <a:picLocks noChangeAspect="1"/>
          </p:cNvPicPr>
          <p:nvPr/>
        </p:nvPicPr>
        <p:blipFill>
          <a:blip r:embed="rIdImage1"/>
          <a:stretch>
            <a:fillRect/>
          </a:stretch>
        </p:blipFill>
        <p:spPr>
          <a:xfrm>
            <a:off x="6159500" y="2108200"/>
            <a:ext cx="5321300" cy="398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82600" y="393700"/>
            <a:ext cx="63500" cy="304800"/>
          </a:xfrm>
          <a:prstGeom prst="rect">
            <a:avLst/>
          </a:prstGeom>
          <a:solidFill>
            <a:srgbClr val="317CE4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660400" y="381000"/>
            <a:ext cx="8255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300" b="1">
                <a:solidFill>
                  <a:srgbClr val="317CE4"/>
                </a:solidFill>
                <a:latin typeface="Microsoft YaHei"/>
                <a:ea typeface="Microsoft YaHei"/>
              </a:rPr>
              <a:t>06 / 稳健性与瓶颈</a:t>
            </a:r>
            <a:endParaRPr lang="zh-CN"/>
          </a:p>
        </p:txBody>
      </p:sp>
      <p:sp>
        <p:nvSpPr>
          <p:cNvPr id="4" name="title"/>
          <p:cNvSpPr txBox="1"/>
          <p:nvPr/>
        </p:nvSpPr>
        <p:spPr>
          <a:xfrm>
            <a:off x="482600" y="952500"/>
            <a:ext cx="1125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500" b="1">
                <a:solidFill>
                  <a:srgbClr val="122037"/>
                </a:solidFill>
                <a:latin typeface="Microsoft YaHei"/>
                <a:ea typeface="Microsoft YaHei"/>
              </a:rPr>
              <a:t>窗口尺度不稳定，长度效应阻止候选冻结</a:t>
            </a:r>
            <a:endParaRPr lang="zh-CN"/>
          </a:p>
        </p:txBody>
      </p:sp>
      <p:sp>
        <p:nvSpPr>
          <p:cNvPr id="5" name="footer-rule"/>
          <p:cNvSpPr/>
          <p:nvPr/>
        </p:nvSpPr>
        <p:spPr>
          <a:xfrm>
            <a:off x="482600" y="6299200"/>
            <a:ext cx="112268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6" name="footer"/>
          <p:cNvSpPr txBox="1"/>
          <p:nvPr/>
        </p:nvSpPr>
        <p:spPr>
          <a:xfrm>
            <a:off x="482600" y="6413500"/>
            <a:ext cx="558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GvpA · M3 中期汇报</a:t>
            </a:r>
            <a:endParaRPr lang="zh-CN"/>
          </a:p>
        </p:txBody>
      </p:sp>
      <p:sp>
        <p:nvSpPr>
          <p:cNvPr id="7" name="page"/>
          <p:cNvSpPr txBox="1"/>
          <p:nvPr/>
        </p:nvSpPr>
        <p:spPr>
          <a:xfrm>
            <a:off x="11290300" y="6413500"/>
            <a:ext cx="4191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07</a:t>
            </a:r>
            <a:endParaRPr lang="zh-CN"/>
          </a:p>
        </p:txBody>
      </p:sp>
      <p:sp>
        <p:nvSpPr>
          <p:cNvPr id="100" name="table-header"/>
          <p:cNvSpPr/>
          <p:nvPr/>
        </p:nvSpPr>
        <p:spPr>
          <a:xfrm>
            <a:off x="660400" y="2120900"/>
            <a:ext cx="6070600" cy="698500"/>
          </a:xfrm>
          <a:prstGeom prst="rect">
            <a:avLst/>
          </a:prstGeom>
          <a:solidFill>
            <a:srgbClr val="E7F2FD"/>
          </a:solidFill>
          <a:ln>
            <a:noFill/>
          </a:ln>
        </p:spPr>
      </p:sp>
      <p:sp>
        <p:nvSpPr>
          <p:cNvPr id="101" name="content-101"/>
          <p:cNvSpPr txBox="1"/>
          <p:nvPr/>
        </p:nvSpPr>
        <p:spPr>
          <a:xfrm>
            <a:off x="762000" y="2247900"/>
            <a:ext cx="3708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122037"/>
                </a:solidFill>
                <a:latin typeface="Microsoft YaHei"/>
                <a:ea typeface="Microsoft YaHei"/>
              </a:rPr>
              <a:t>相对主配置的敏感性</a:t>
            </a:r>
            <a:endParaRPr lang="zh-CN"/>
          </a:p>
        </p:txBody>
      </p:sp>
      <p:sp>
        <p:nvSpPr>
          <p:cNvPr id="102" name="content-102"/>
          <p:cNvSpPr txBox="1"/>
          <p:nvPr/>
        </p:nvSpPr>
        <p:spPr>
          <a:xfrm>
            <a:off x="4673600" y="2247900"/>
            <a:ext cx="19558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122037"/>
                </a:solidFill>
                <a:latin typeface="Microsoft YaHei"/>
                <a:ea typeface="Microsoft YaHei"/>
              </a:rPr>
              <a:t>ARI</a:t>
            </a:r>
            <a:endParaRPr lang="zh-CN"/>
          </a:p>
        </p:txBody>
      </p:sp>
      <p:sp>
        <p:nvSpPr>
          <p:cNvPr id="103" name="table-rule"/>
          <p:cNvSpPr/>
          <p:nvPr/>
        </p:nvSpPr>
        <p:spPr>
          <a:xfrm>
            <a:off x="660400" y="2819400"/>
            <a:ext cx="60706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04" name="content-104"/>
          <p:cNvSpPr txBox="1"/>
          <p:nvPr/>
        </p:nvSpPr>
        <p:spPr>
          <a:xfrm>
            <a:off x="762000" y="2959100"/>
            <a:ext cx="3708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min_cluster_size 50 → 100</a:t>
            </a:r>
            <a:endParaRPr lang="zh-CN"/>
          </a:p>
        </p:txBody>
      </p:sp>
      <p:sp>
        <p:nvSpPr>
          <p:cNvPr id="105" name="content-105"/>
          <p:cNvSpPr txBox="1"/>
          <p:nvPr/>
        </p:nvSpPr>
        <p:spPr>
          <a:xfrm>
            <a:off x="4673600" y="2959100"/>
            <a:ext cx="19558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0.9975</a:t>
            </a:r>
            <a:endParaRPr lang="zh-CN"/>
          </a:p>
        </p:txBody>
      </p:sp>
      <p:sp>
        <p:nvSpPr>
          <p:cNvPr id="106" name="table-rule"/>
          <p:cNvSpPr/>
          <p:nvPr/>
        </p:nvSpPr>
        <p:spPr>
          <a:xfrm>
            <a:off x="660400" y="3517900"/>
            <a:ext cx="60706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07" name="content-107"/>
          <p:cNvSpPr txBox="1"/>
          <p:nvPr/>
        </p:nvSpPr>
        <p:spPr>
          <a:xfrm>
            <a:off x="762000" y="3657600"/>
            <a:ext cx="3708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PCA 20 → 50 维</a:t>
            </a:r>
            <a:endParaRPr lang="zh-CN"/>
          </a:p>
        </p:txBody>
      </p:sp>
      <p:sp>
        <p:nvSpPr>
          <p:cNvPr id="108" name="content-108"/>
          <p:cNvSpPr txBox="1"/>
          <p:nvPr/>
        </p:nvSpPr>
        <p:spPr>
          <a:xfrm>
            <a:off x="4673600" y="3657600"/>
            <a:ext cx="19558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0.7791</a:t>
            </a:r>
            <a:endParaRPr lang="zh-CN"/>
          </a:p>
        </p:txBody>
      </p:sp>
      <p:sp>
        <p:nvSpPr>
          <p:cNvPr id="109" name="table-rule"/>
          <p:cNvSpPr/>
          <p:nvPr/>
        </p:nvSpPr>
        <p:spPr>
          <a:xfrm>
            <a:off x="660400" y="4216400"/>
            <a:ext cx="60706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10" name="content-110"/>
          <p:cNvSpPr txBox="1"/>
          <p:nvPr/>
        </p:nvSpPr>
        <p:spPr>
          <a:xfrm>
            <a:off x="762000" y="4356100"/>
            <a:ext cx="3708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窗口 30 → 25 / 35 aa</a:t>
            </a:r>
            <a:endParaRPr lang="zh-CN"/>
          </a:p>
        </p:txBody>
      </p:sp>
      <p:sp>
        <p:nvSpPr>
          <p:cNvPr id="111" name="content-111"/>
          <p:cNvSpPr txBox="1"/>
          <p:nvPr/>
        </p:nvSpPr>
        <p:spPr>
          <a:xfrm>
            <a:off x="4673600" y="4356100"/>
            <a:ext cx="19558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0.1600 / 0.5170</a:t>
            </a:r>
            <a:endParaRPr lang="zh-CN"/>
          </a:p>
        </p:txBody>
      </p:sp>
      <p:sp>
        <p:nvSpPr>
          <p:cNvPr id="112" name="table-last-rule"/>
          <p:cNvSpPr/>
          <p:nvPr/>
        </p:nvSpPr>
        <p:spPr>
          <a:xfrm>
            <a:off x="660400" y="4914900"/>
            <a:ext cx="60706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8" name="content-8"/>
          <p:cNvSpPr txBox="1"/>
          <p:nvPr/>
        </p:nvSpPr>
        <p:spPr>
          <a:xfrm>
            <a:off x="7188200" y="2235200"/>
            <a:ext cx="4470400" cy="59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500" b="1">
                <a:solidFill>
                  <a:srgbClr val="B83837"/>
                </a:solidFill>
                <a:latin typeface="Microsoft YaHei"/>
                <a:ea typeface="Microsoft YaHei"/>
              </a:rPr>
              <a:t>长度单变量 AUC：0.9688</a:t>
            </a:r>
            <a:endParaRPr lang="zh-CN"/>
          </a:p>
        </p:txBody>
      </p:sp>
      <p:sp>
        <p:nvSpPr>
          <p:cNvPr id="9" name="content-9"/>
          <p:cNvSpPr txBox="1"/>
          <p:nvPr/>
        </p:nvSpPr>
        <p:spPr>
          <a:xfrm>
            <a:off x="7188200" y="3073400"/>
            <a:ext cx="4445000" cy="113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900">
                <a:solidFill>
                  <a:srgbClr val="122037"/>
                </a:solidFill>
                <a:latin typeface="Microsoft YaHei"/>
                <a:ea typeface="Microsoft YaHei"/>
              </a:rPr>
              <a:t>≤100 aa：245 / 298 条参与</a:t>
            </a:r>
            <a:endParaRPr lang="zh-CN"/>
          </a:p>
          <a:p>
            <a:pPr algn="l"/>
            <a:r>
              <a:rPr lang="zh-CN" sz="1900">
                <a:solidFill>
                  <a:srgbClr val="122037"/>
                </a:solidFill>
                <a:latin typeface="Microsoft YaHei"/>
                <a:ea typeface="Microsoft YaHei"/>
              </a:rPr>
              <a:t>131–160 aa：1 / 845 条参与</a:t>
            </a:r>
            <a:endParaRPr lang="zh-CN"/>
          </a:p>
        </p:txBody>
      </p:sp>
      <p:sp>
        <p:nvSpPr>
          <p:cNvPr id="10" name="content-10"/>
          <p:cNvSpPr txBox="1"/>
          <p:nvPr/>
        </p:nvSpPr>
        <p:spPr>
          <a:xfrm>
            <a:off x="7188200" y="4419600"/>
            <a:ext cx="4445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>
                <a:solidFill>
                  <a:srgbClr val="122037"/>
                </a:solidFill>
                <a:latin typeface="Microsoft YaHei"/>
                <a:ea typeface="Microsoft YaHei"/>
              </a:rPr>
              <a:t>簇 3 参与 / 不参与序列</a:t>
            </a:r>
            <a:endParaRPr lang="zh-CN"/>
          </a:p>
          <a:p>
            <a:pPr algn="l"/>
            <a:r>
              <a:rPr lang="zh-CN" sz="1800">
                <a:solidFill>
                  <a:srgbClr val="122037"/>
                </a:solidFill>
                <a:latin typeface="Microsoft YaHei"/>
                <a:ea typeface="Microsoft YaHei"/>
              </a:rPr>
              <a:t>长度中位数：87 / 144 aa</a:t>
            </a:r>
            <a:endParaRPr lang="zh-CN"/>
          </a:p>
        </p:txBody>
      </p:sp>
      <p:sp>
        <p:nvSpPr>
          <p:cNvPr id="11" name="content-11"/>
          <p:cNvSpPr txBox="1"/>
          <p:nvPr/>
        </p:nvSpPr>
        <p:spPr>
          <a:xfrm>
            <a:off x="673100" y="5499100"/>
            <a:ext cx="10807700" cy="673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B83837"/>
                </a:solidFill>
                <a:latin typeface="Microsoft YaHei"/>
                <a:ea typeface="Microsoft YaHei"/>
              </a:rPr>
              <a:t>结论：候选尚未冻结，validation 尚未运行；先在 discovery 中修订与控制混杂。</a:t>
            </a:r>
            <a:endParaRPr lang="zh-CN"/>
          </a:p>
        </p:txBody>
      </p:sp>
      <p:sp>
        <p:nvSpPr>
          <p:cNvPr id="12" name="content-12"/>
          <p:cNvSpPr txBox="1"/>
          <p:nvPr/>
        </p:nvSpPr>
        <p:spPr>
          <a:xfrm>
            <a:off x="673100" y="5092700"/>
            <a:ext cx="6070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00">
                <a:solidFill>
                  <a:srgbClr val="4F627A"/>
                </a:solidFill>
                <a:latin typeface="Microsoft YaHei"/>
                <a:ea typeface="Microsoft YaHei"/>
              </a:rPr>
              <a:t>跨窗口 ARI 比较相同起点，包含噪声。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82600" y="393700"/>
            <a:ext cx="63500" cy="304800"/>
          </a:xfrm>
          <a:prstGeom prst="rect">
            <a:avLst/>
          </a:prstGeom>
          <a:solidFill>
            <a:srgbClr val="317CE4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660400" y="381000"/>
            <a:ext cx="8255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300" b="1">
                <a:solidFill>
                  <a:srgbClr val="317CE4"/>
                </a:solidFill>
                <a:latin typeface="Microsoft YaHei"/>
                <a:ea typeface="Microsoft YaHei"/>
              </a:rPr>
              <a:t>07 / 成员分工与交付接口</a:t>
            </a:r>
            <a:endParaRPr lang="zh-CN"/>
          </a:p>
        </p:txBody>
      </p:sp>
      <p:sp>
        <p:nvSpPr>
          <p:cNvPr id="4" name="title"/>
          <p:cNvSpPr txBox="1"/>
          <p:nvPr/>
        </p:nvSpPr>
        <p:spPr>
          <a:xfrm>
            <a:off x="482600" y="952500"/>
            <a:ext cx="1125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500" b="1">
                <a:solidFill>
                  <a:srgbClr val="122037"/>
                </a:solidFill>
                <a:latin typeface="Microsoft YaHei"/>
                <a:ea typeface="Microsoft YaHei"/>
              </a:rPr>
              <a:t>五人围绕同一候选和坐标接口协作</a:t>
            </a:r>
            <a:endParaRPr lang="zh-CN"/>
          </a:p>
        </p:txBody>
      </p:sp>
      <p:sp>
        <p:nvSpPr>
          <p:cNvPr id="5" name="footer-rule"/>
          <p:cNvSpPr/>
          <p:nvPr/>
        </p:nvSpPr>
        <p:spPr>
          <a:xfrm>
            <a:off x="482600" y="6299200"/>
            <a:ext cx="112268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6" name="footer"/>
          <p:cNvSpPr txBox="1"/>
          <p:nvPr/>
        </p:nvSpPr>
        <p:spPr>
          <a:xfrm>
            <a:off x="482600" y="6413500"/>
            <a:ext cx="558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GvpA · M3 中期汇报</a:t>
            </a:r>
            <a:endParaRPr lang="zh-CN"/>
          </a:p>
        </p:txBody>
      </p:sp>
      <p:sp>
        <p:nvSpPr>
          <p:cNvPr id="7" name="page"/>
          <p:cNvSpPr txBox="1"/>
          <p:nvPr/>
        </p:nvSpPr>
        <p:spPr>
          <a:xfrm>
            <a:off x="11290300" y="6413500"/>
            <a:ext cx="4191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08</a:t>
            </a:r>
            <a:endParaRPr lang="zh-CN"/>
          </a:p>
        </p:txBody>
      </p:sp>
      <p:sp>
        <p:nvSpPr>
          <p:cNvPr id="100" name="table-rule"/>
          <p:cNvSpPr/>
          <p:nvPr/>
        </p:nvSpPr>
        <p:spPr>
          <a:xfrm>
            <a:off x="673100" y="2108200"/>
            <a:ext cx="108077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01" name="content-101"/>
          <p:cNvSpPr txBox="1"/>
          <p:nvPr/>
        </p:nvSpPr>
        <p:spPr>
          <a:xfrm>
            <a:off x="774700" y="2247900"/>
            <a:ext cx="20066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A 史晨皓</a:t>
            </a:r>
            <a:endParaRPr lang="zh-CN"/>
          </a:p>
        </p:txBody>
      </p:sp>
      <p:sp>
        <p:nvSpPr>
          <p:cNvPr id="102" name="content-102"/>
          <p:cNvSpPr txBox="1"/>
          <p:nvPr/>
        </p:nvSpPr>
        <p:spPr>
          <a:xfrm>
            <a:off x="2984500" y="2247900"/>
            <a:ext cx="2971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统筹 / 验收 / 汇报</a:t>
            </a:r>
            <a:endParaRPr lang="zh-CN"/>
          </a:p>
        </p:txBody>
      </p:sp>
      <p:sp>
        <p:nvSpPr>
          <p:cNvPr id="103" name="content-103"/>
          <p:cNvSpPr txBox="1"/>
          <p:nvPr/>
        </p:nvSpPr>
        <p:spPr>
          <a:xfrm>
            <a:off x="6159500" y="2247900"/>
            <a:ext cx="52197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冻结规则、证据整合、交付检查</a:t>
            </a:r>
            <a:endParaRPr lang="zh-CN"/>
          </a:p>
        </p:txBody>
      </p:sp>
      <p:sp>
        <p:nvSpPr>
          <p:cNvPr id="104" name="table-rule"/>
          <p:cNvSpPr/>
          <p:nvPr/>
        </p:nvSpPr>
        <p:spPr>
          <a:xfrm>
            <a:off x="673100" y="2832100"/>
            <a:ext cx="108077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05" name="content-105"/>
          <p:cNvSpPr txBox="1"/>
          <p:nvPr/>
        </p:nvSpPr>
        <p:spPr>
          <a:xfrm>
            <a:off x="774700" y="2971800"/>
            <a:ext cx="20066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B 韩涛鸿</a:t>
            </a:r>
            <a:endParaRPr lang="zh-CN"/>
          </a:p>
        </p:txBody>
      </p:sp>
      <p:sp>
        <p:nvSpPr>
          <p:cNvPr id="106" name="content-106"/>
          <p:cNvSpPr txBox="1"/>
          <p:nvPr/>
        </p:nvSpPr>
        <p:spPr>
          <a:xfrm>
            <a:off x="2984500" y="2971800"/>
            <a:ext cx="2971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数据 / 来源追溯</a:t>
            </a:r>
            <a:endParaRPr lang="zh-CN"/>
          </a:p>
        </p:txBody>
      </p:sp>
      <p:sp>
        <p:nvSpPr>
          <p:cNvPr id="107" name="content-107"/>
          <p:cNvSpPr txBox="1"/>
          <p:nvPr/>
        </p:nvSpPr>
        <p:spPr>
          <a:xfrm>
            <a:off x="6159500" y="2971800"/>
            <a:ext cx="52197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输入版本、split、运行来源记录</a:t>
            </a:r>
            <a:endParaRPr lang="zh-CN"/>
          </a:p>
        </p:txBody>
      </p:sp>
      <p:sp>
        <p:nvSpPr>
          <p:cNvPr id="108" name="table-rule"/>
          <p:cNvSpPr/>
          <p:nvPr/>
        </p:nvSpPr>
        <p:spPr>
          <a:xfrm>
            <a:off x="673100" y="3556000"/>
            <a:ext cx="108077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09" name="content-109"/>
          <p:cNvSpPr txBox="1"/>
          <p:nvPr/>
        </p:nvSpPr>
        <p:spPr>
          <a:xfrm>
            <a:off x="774700" y="3695700"/>
            <a:ext cx="20066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C 燕相楠</a:t>
            </a:r>
            <a:endParaRPr lang="zh-CN"/>
          </a:p>
        </p:txBody>
      </p:sp>
      <p:sp>
        <p:nvSpPr>
          <p:cNvPr id="110" name="content-110"/>
          <p:cNvSpPr txBox="1"/>
          <p:nvPr/>
        </p:nvSpPr>
        <p:spPr>
          <a:xfrm>
            <a:off x="2984500" y="3695700"/>
            <a:ext cx="2971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坐标 / 生物信息学</a:t>
            </a:r>
            <a:endParaRPr lang="zh-CN"/>
          </a:p>
        </p:txBody>
      </p:sp>
      <p:sp>
        <p:nvSpPr>
          <p:cNvPr id="111" name="content-111"/>
          <p:cNvSpPr txBox="1"/>
          <p:nvPr/>
        </p:nvSpPr>
        <p:spPr>
          <a:xfrm>
            <a:off x="6159500" y="3695700"/>
            <a:ext cx="52197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HMM / 7R1C 映射、保守性</a:t>
            </a:r>
            <a:endParaRPr lang="zh-CN"/>
          </a:p>
        </p:txBody>
      </p:sp>
      <p:sp>
        <p:nvSpPr>
          <p:cNvPr id="112" name="table-rule"/>
          <p:cNvSpPr/>
          <p:nvPr/>
        </p:nvSpPr>
        <p:spPr>
          <a:xfrm>
            <a:off x="673100" y="4279900"/>
            <a:ext cx="108077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13" name="content-113"/>
          <p:cNvSpPr txBox="1"/>
          <p:nvPr/>
        </p:nvSpPr>
        <p:spPr>
          <a:xfrm>
            <a:off x="774700" y="4419600"/>
            <a:ext cx="20066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D 李若凡</a:t>
            </a:r>
            <a:endParaRPr lang="zh-CN"/>
          </a:p>
        </p:txBody>
      </p:sp>
      <p:sp>
        <p:nvSpPr>
          <p:cNvPr id="114" name="content-114"/>
          <p:cNvSpPr txBox="1"/>
          <p:nvPr/>
        </p:nvSpPr>
        <p:spPr>
          <a:xfrm>
            <a:off x="2984500" y="4419600"/>
            <a:ext cx="2971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表征 / 发现 / 验证</a:t>
            </a:r>
            <a:endParaRPr lang="zh-CN"/>
          </a:p>
        </p:txBody>
      </p:sp>
      <p:sp>
        <p:nvSpPr>
          <p:cNvPr id="115" name="content-115"/>
          <p:cNvSpPr txBox="1"/>
          <p:nvPr/>
        </p:nvSpPr>
        <p:spPr>
          <a:xfrm>
            <a:off x="6159500" y="4419600"/>
            <a:ext cx="52197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窗口、模型与冻结后的验证</a:t>
            </a:r>
            <a:endParaRPr lang="zh-CN"/>
          </a:p>
        </p:txBody>
      </p:sp>
      <p:sp>
        <p:nvSpPr>
          <p:cNvPr id="116" name="table-rule"/>
          <p:cNvSpPr/>
          <p:nvPr/>
        </p:nvSpPr>
        <p:spPr>
          <a:xfrm>
            <a:off x="673100" y="5003800"/>
            <a:ext cx="108077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17" name="content-117"/>
          <p:cNvSpPr txBox="1"/>
          <p:nvPr/>
        </p:nvSpPr>
        <p:spPr>
          <a:xfrm>
            <a:off x="774700" y="5143500"/>
            <a:ext cx="20066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E 杨傲翔</a:t>
            </a:r>
            <a:endParaRPr lang="zh-CN"/>
          </a:p>
        </p:txBody>
      </p:sp>
      <p:sp>
        <p:nvSpPr>
          <p:cNvPr id="118" name="content-118"/>
          <p:cNvSpPr txBox="1"/>
          <p:nvPr/>
        </p:nvSpPr>
        <p:spPr>
          <a:xfrm>
            <a:off x="2984500" y="5143500"/>
            <a:ext cx="2971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归因 / 可视化</a:t>
            </a:r>
            <a:endParaRPr lang="zh-CN"/>
          </a:p>
        </p:txBody>
      </p:sp>
      <p:sp>
        <p:nvSpPr>
          <p:cNvPr id="119" name="content-119"/>
          <p:cNvSpPr txBox="1"/>
          <p:nvPr/>
        </p:nvSpPr>
        <p:spPr>
          <a:xfrm>
            <a:off x="6159500" y="5143500"/>
            <a:ext cx="52197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匹配基线、扰动与残基证据</a:t>
            </a:r>
            <a:endParaRPr lang="zh-CN"/>
          </a:p>
        </p:txBody>
      </p:sp>
      <p:sp>
        <p:nvSpPr>
          <p:cNvPr id="120" name="table-last-rule"/>
          <p:cNvSpPr/>
          <p:nvPr/>
        </p:nvSpPr>
        <p:spPr>
          <a:xfrm>
            <a:off x="673100" y="5727700"/>
            <a:ext cx="108077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8" name="content-8"/>
          <p:cNvSpPr txBox="1"/>
          <p:nvPr/>
        </p:nvSpPr>
        <p:spPr>
          <a:xfrm>
            <a:off x="685800" y="5854700"/>
            <a:ext cx="10795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00">
                <a:solidFill>
                  <a:srgbClr val="4F627A"/>
                </a:solidFill>
                <a:latin typeface="Microsoft YaHei"/>
                <a:ea typeface="Microsoft YaHei"/>
              </a:rPr>
              <a:t>职责与已验收成果分开记录；候选冻结后，C / D / E 使用同一版本继续分析。</a:t>
            </a:r>
            <a:endParaRPr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82600" y="393700"/>
            <a:ext cx="63500" cy="304800"/>
          </a:xfrm>
          <a:prstGeom prst="rect">
            <a:avLst/>
          </a:prstGeom>
          <a:solidFill>
            <a:srgbClr val="317CE4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660400" y="381000"/>
            <a:ext cx="8255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300" b="1">
                <a:solidFill>
                  <a:srgbClr val="317CE4"/>
                </a:solidFill>
                <a:latin typeface="Microsoft YaHei"/>
                <a:ea typeface="Microsoft YaHei"/>
              </a:rPr>
              <a:t>08 / 中期交付与下一步</a:t>
            </a:r>
            <a:endParaRPr lang="zh-CN"/>
          </a:p>
        </p:txBody>
      </p:sp>
      <p:sp>
        <p:nvSpPr>
          <p:cNvPr id="4" name="title"/>
          <p:cNvSpPr txBox="1"/>
          <p:nvPr/>
        </p:nvSpPr>
        <p:spPr>
          <a:xfrm>
            <a:off x="482600" y="952500"/>
            <a:ext cx="1125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500" b="1">
                <a:solidFill>
                  <a:srgbClr val="122037"/>
                </a:solidFill>
                <a:latin typeface="Microsoft YaHei"/>
                <a:ea typeface="Microsoft YaHei"/>
              </a:rPr>
              <a:t>已交付 Baseline 与实验记录，验证仍待完成</a:t>
            </a:r>
            <a:endParaRPr lang="zh-CN"/>
          </a:p>
        </p:txBody>
      </p:sp>
      <p:sp>
        <p:nvSpPr>
          <p:cNvPr id="5" name="footer-rule"/>
          <p:cNvSpPr/>
          <p:nvPr/>
        </p:nvSpPr>
        <p:spPr>
          <a:xfrm>
            <a:off x="482600" y="6299200"/>
            <a:ext cx="112268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6" name="footer"/>
          <p:cNvSpPr txBox="1"/>
          <p:nvPr/>
        </p:nvSpPr>
        <p:spPr>
          <a:xfrm>
            <a:off x="482600" y="6413500"/>
            <a:ext cx="558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GvpA · M3 中期汇报</a:t>
            </a:r>
            <a:endParaRPr lang="zh-CN"/>
          </a:p>
        </p:txBody>
      </p:sp>
      <p:sp>
        <p:nvSpPr>
          <p:cNvPr id="7" name="page"/>
          <p:cNvSpPr txBox="1"/>
          <p:nvPr/>
        </p:nvSpPr>
        <p:spPr>
          <a:xfrm>
            <a:off x="11290300" y="6413500"/>
            <a:ext cx="4191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09</a:t>
            </a:r>
            <a:endParaRPr lang="zh-CN"/>
          </a:p>
        </p:txBody>
      </p:sp>
      <p:sp>
        <p:nvSpPr>
          <p:cNvPr id="100" name="table-header"/>
          <p:cNvSpPr/>
          <p:nvPr/>
        </p:nvSpPr>
        <p:spPr>
          <a:xfrm>
            <a:off x="673100" y="2057400"/>
            <a:ext cx="10833100" cy="635000"/>
          </a:xfrm>
          <a:prstGeom prst="rect">
            <a:avLst/>
          </a:prstGeom>
          <a:solidFill>
            <a:srgbClr val="E7F2FD"/>
          </a:solidFill>
          <a:ln>
            <a:noFill/>
          </a:ln>
        </p:spPr>
      </p:sp>
      <p:sp>
        <p:nvSpPr>
          <p:cNvPr id="101" name="content-101"/>
          <p:cNvSpPr txBox="1"/>
          <p:nvPr/>
        </p:nvSpPr>
        <p:spPr>
          <a:xfrm>
            <a:off x="774700" y="2184400"/>
            <a:ext cx="2387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122037"/>
                </a:solidFill>
                <a:latin typeface="Microsoft YaHei"/>
                <a:ea typeface="Microsoft YaHei"/>
              </a:rPr>
              <a:t>课程 M3 要求</a:t>
            </a:r>
            <a:endParaRPr lang="zh-CN"/>
          </a:p>
        </p:txBody>
      </p:sp>
      <p:sp>
        <p:nvSpPr>
          <p:cNvPr id="102" name="content-102"/>
          <p:cNvSpPr txBox="1"/>
          <p:nvPr/>
        </p:nvSpPr>
        <p:spPr>
          <a:xfrm>
            <a:off x="3365500" y="2184400"/>
            <a:ext cx="60579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122037"/>
                </a:solidFill>
                <a:latin typeface="Microsoft YaHei"/>
                <a:ea typeface="Microsoft YaHei"/>
              </a:rPr>
              <a:t>本项目对应交付</a:t>
            </a:r>
            <a:endParaRPr lang="zh-CN"/>
          </a:p>
        </p:txBody>
      </p:sp>
      <p:sp>
        <p:nvSpPr>
          <p:cNvPr id="103" name="content-103"/>
          <p:cNvSpPr txBox="1"/>
          <p:nvPr/>
        </p:nvSpPr>
        <p:spPr>
          <a:xfrm>
            <a:off x="9626600" y="2184400"/>
            <a:ext cx="1778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122037"/>
                </a:solidFill>
                <a:latin typeface="Microsoft YaHei"/>
                <a:ea typeface="Microsoft YaHei"/>
              </a:rPr>
              <a:t>状态</a:t>
            </a:r>
            <a:endParaRPr lang="zh-CN"/>
          </a:p>
        </p:txBody>
      </p:sp>
      <p:sp>
        <p:nvSpPr>
          <p:cNvPr id="104" name="table-rule"/>
          <p:cNvSpPr/>
          <p:nvPr/>
        </p:nvSpPr>
        <p:spPr>
          <a:xfrm>
            <a:off x="673100" y="2692400"/>
            <a:ext cx="108331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05" name="content-105"/>
          <p:cNvSpPr txBox="1"/>
          <p:nvPr/>
        </p:nvSpPr>
        <p:spPr>
          <a:xfrm>
            <a:off x="774700" y="2832100"/>
            <a:ext cx="2387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模型定制设计</a:t>
            </a:r>
            <a:endParaRPr lang="zh-CN"/>
          </a:p>
        </p:txBody>
      </p:sp>
      <p:sp>
        <p:nvSpPr>
          <p:cNvPr id="106" name="content-106"/>
          <p:cNvSpPr txBox="1"/>
          <p:nvPr/>
        </p:nvSpPr>
        <p:spPr>
          <a:xfrm>
            <a:off x="3365500" y="2832100"/>
            <a:ext cx="60579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ESM-2 残基 → 窗口 → 聚类</a:t>
            </a:r>
            <a:endParaRPr lang="zh-CN"/>
          </a:p>
        </p:txBody>
      </p:sp>
      <p:sp>
        <p:nvSpPr>
          <p:cNvPr id="107" name="content-107"/>
          <p:cNvSpPr txBox="1"/>
          <p:nvPr/>
        </p:nvSpPr>
        <p:spPr>
          <a:xfrm>
            <a:off x="9626600" y="2832100"/>
            <a:ext cx="1778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已实现</a:t>
            </a:r>
            <a:endParaRPr lang="zh-CN"/>
          </a:p>
        </p:txBody>
      </p:sp>
      <p:sp>
        <p:nvSpPr>
          <p:cNvPr id="108" name="table-rule"/>
          <p:cNvSpPr/>
          <p:nvPr/>
        </p:nvSpPr>
        <p:spPr>
          <a:xfrm>
            <a:off x="673100" y="3327400"/>
            <a:ext cx="108331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09" name="content-109"/>
          <p:cNvSpPr txBox="1"/>
          <p:nvPr/>
        </p:nvSpPr>
        <p:spPr>
          <a:xfrm>
            <a:off x="774700" y="3467100"/>
            <a:ext cx="2387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Baseline 实现</a:t>
            </a:r>
            <a:endParaRPr lang="zh-CN"/>
          </a:p>
        </p:txBody>
      </p:sp>
      <p:sp>
        <p:nvSpPr>
          <p:cNvPr id="110" name="content-110"/>
          <p:cNvSpPr txBox="1"/>
          <p:nvPr/>
        </p:nvSpPr>
        <p:spPr>
          <a:xfrm>
            <a:off x="3365500" y="3467100"/>
            <a:ext cx="60579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氨基酸组成与 ESM-2 对照</a:t>
            </a:r>
            <a:endParaRPr lang="zh-CN"/>
          </a:p>
        </p:txBody>
      </p:sp>
      <p:sp>
        <p:nvSpPr>
          <p:cNvPr id="111" name="content-111"/>
          <p:cNvSpPr txBox="1"/>
          <p:nvPr/>
        </p:nvSpPr>
        <p:spPr>
          <a:xfrm>
            <a:off x="9626600" y="3467100"/>
            <a:ext cx="1778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已运行</a:t>
            </a:r>
            <a:endParaRPr lang="zh-CN"/>
          </a:p>
        </p:txBody>
      </p:sp>
      <p:sp>
        <p:nvSpPr>
          <p:cNvPr id="112" name="table-rule"/>
          <p:cNvSpPr/>
          <p:nvPr/>
        </p:nvSpPr>
        <p:spPr>
          <a:xfrm>
            <a:off x="673100" y="3962400"/>
            <a:ext cx="108331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13" name="content-113"/>
          <p:cNvSpPr txBox="1"/>
          <p:nvPr/>
        </p:nvSpPr>
        <p:spPr>
          <a:xfrm>
            <a:off x="774700" y="4102100"/>
            <a:ext cx="2387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初步实验验证</a:t>
            </a:r>
            <a:endParaRPr lang="zh-CN"/>
          </a:p>
        </p:txBody>
      </p:sp>
      <p:sp>
        <p:nvSpPr>
          <p:cNvPr id="114" name="content-114"/>
          <p:cNvSpPr txBox="1"/>
          <p:nvPr/>
        </p:nvSpPr>
        <p:spPr>
          <a:xfrm>
            <a:off x="3365500" y="4102100"/>
            <a:ext cx="60579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12 组参数、随机诊断、混杂检查</a:t>
            </a:r>
            <a:endParaRPr lang="zh-CN"/>
          </a:p>
        </p:txBody>
      </p:sp>
      <p:sp>
        <p:nvSpPr>
          <p:cNvPr id="115" name="content-115"/>
          <p:cNvSpPr txBox="1"/>
          <p:nvPr/>
        </p:nvSpPr>
        <p:spPr>
          <a:xfrm>
            <a:off x="9626600" y="4102100"/>
            <a:ext cx="1778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已运行</a:t>
            </a:r>
            <a:endParaRPr lang="zh-CN"/>
          </a:p>
        </p:txBody>
      </p:sp>
      <p:sp>
        <p:nvSpPr>
          <p:cNvPr id="116" name="table-rule"/>
          <p:cNvSpPr/>
          <p:nvPr/>
        </p:nvSpPr>
        <p:spPr>
          <a:xfrm>
            <a:off x="673100" y="4597400"/>
            <a:ext cx="108331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17" name="content-117"/>
          <p:cNvSpPr txBox="1"/>
          <p:nvPr/>
        </p:nvSpPr>
        <p:spPr>
          <a:xfrm>
            <a:off x="774700" y="4737100"/>
            <a:ext cx="2387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代码库 + 实验记录</a:t>
            </a:r>
            <a:endParaRPr lang="zh-CN"/>
          </a:p>
        </p:txBody>
      </p:sp>
      <p:sp>
        <p:nvSpPr>
          <p:cNvPr id="118" name="content-118"/>
          <p:cNvSpPr txBox="1"/>
          <p:nvPr/>
        </p:nvSpPr>
        <p:spPr>
          <a:xfrm>
            <a:off x="3365500" y="4737100"/>
            <a:ext cx="60579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配置、台账、运行 SHA 与输出哈希</a:t>
            </a:r>
            <a:endParaRPr lang="zh-CN"/>
          </a:p>
        </p:txBody>
      </p:sp>
      <p:sp>
        <p:nvSpPr>
          <p:cNvPr id="119" name="content-119"/>
          <p:cNvSpPr txBox="1"/>
          <p:nvPr/>
        </p:nvSpPr>
        <p:spPr>
          <a:xfrm>
            <a:off x="9626600" y="4737100"/>
            <a:ext cx="1778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已有证据</a:t>
            </a:r>
            <a:endParaRPr lang="zh-CN"/>
          </a:p>
        </p:txBody>
      </p:sp>
      <p:sp>
        <p:nvSpPr>
          <p:cNvPr id="120" name="table-last-rule"/>
          <p:cNvSpPr/>
          <p:nvPr/>
        </p:nvSpPr>
        <p:spPr>
          <a:xfrm>
            <a:off x="673100" y="5232400"/>
            <a:ext cx="108331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8" name="content-8"/>
          <p:cNvSpPr txBox="1"/>
          <p:nvPr/>
        </p:nvSpPr>
        <p:spPr>
          <a:xfrm>
            <a:off x="685800" y="5461000"/>
            <a:ext cx="107950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317CE4"/>
                </a:solidFill>
                <a:latin typeface="Microsoft YaHei"/>
                <a:ea typeface="Microsoft YaHei"/>
              </a:rPr>
              <a:t>下一步：长度控制 → A 冻结候选 → 锁定 validation → 保守性 / 结构 / 扰动证据</a:t>
            </a:r>
            <a:endParaRPr 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82600" y="393700"/>
            <a:ext cx="63500" cy="304800"/>
          </a:xfrm>
          <a:prstGeom prst="rect">
            <a:avLst/>
          </a:prstGeom>
          <a:solidFill>
            <a:srgbClr val="317CE4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660400" y="381000"/>
            <a:ext cx="8255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300" b="1">
                <a:solidFill>
                  <a:srgbClr val="317CE4"/>
                </a:solidFill>
                <a:latin typeface="Microsoft YaHei"/>
                <a:ea typeface="Microsoft YaHei"/>
              </a:rPr>
              <a:t>附录 A / 可复现证据</a:t>
            </a:r>
            <a:endParaRPr lang="zh-CN"/>
          </a:p>
        </p:txBody>
      </p:sp>
      <p:sp>
        <p:nvSpPr>
          <p:cNvPr id="4" name="title"/>
          <p:cNvSpPr txBox="1"/>
          <p:nvPr/>
        </p:nvSpPr>
        <p:spPr>
          <a:xfrm>
            <a:off x="482600" y="952500"/>
            <a:ext cx="1125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500" b="1">
                <a:solidFill>
                  <a:srgbClr val="122037"/>
                </a:solidFill>
                <a:latin typeface="Microsoft YaHei"/>
                <a:ea typeface="Microsoft YaHei"/>
              </a:rPr>
              <a:t>运行收据绑定真实代码提交与输入输出哈希</a:t>
            </a:r>
            <a:endParaRPr lang="zh-CN"/>
          </a:p>
        </p:txBody>
      </p:sp>
      <p:sp>
        <p:nvSpPr>
          <p:cNvPr id="5" name="footer-rule"/>
          <p:cNvSpPr/>
          <p:nvPr/>
        </p:nvSpPr>
        <p:spPr>
          <a:xfrm>
            <a:off x="482600" y="6299200"/>
            <a:ext cx="112268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6" name="footer"/>
          <p:cNvSpPr txBox="1"/>
          <p:nvPr/>
        </p:nvSpPr>
        <p:spPr>
          <a:xfrm>
            <a:off x="482600" y="6413500"/>
            <a:ext cx="558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GvpA · M3 中期汇报</a:t>
            </a:r>
            <a:endParaRPr lang="zh-CN"/>
          </a:p>
        </p:txBody>
      </p:sp>
      <p:sp>
        <p:nvSpPr>
          <p:cNvPr id="7" name="page"/>
          <p:cNvSpPr txBox="1"/>
          <p:nvPr/>
        </p:nvSpPr>
        <p:spPr>
          <a:xfrm>
            <a:off x="11290300" y="6413500"/>
            <a:ext cx="4191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10</a:t>
            </a:r>
            <a:endParaRPr lang="zh-CN"/>
          </a:p>
        </p:txBody>
      </p:sp>
      <p:sp>
        <p:nvSpPr>
          <p:cNvPr id="100" name="table-header"/>
          <p:cNvSpPr/>
          <p:nvPr/>
        </p:nvSpPr>
        <p:spPr>
          <a:xfrm>
            <a:off x="673100" y="2108200"/>
            <a:ext cx="10833100" cy="698500"/>
          </a:xfrm>
          <a:prstGeom prst="rect">
            <a:avLst/>
          </a:prstGeom>
          <a:solidFill>
            <a:srgbClr val="E7F2FD"/>
          </a:solidFill>
          <a:ln>
            <a:noFill/>
          </a:ln>
        </p:spPr>
      </p:sp>
      <p:sp>
        <p:nvSpPr>
          <p:cNvPr id="101" name="content-101"/>
          <p:cNvSpPr txBox="1"/>
          <p:nvPr/>
        </p:nvSpPr>
        <p:spPr>
          <a:xfrm>
            <a:off x="774700" y="2235200"/>
            <a:ext cx="39243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122037"/>
                </a:solidFill>
                <a:latin typeface="Microsoft YaHei"/>
                <a:ea typeface="Microsoft YaHei"/>
              </a:rPr>
              <a:t>M3-D 运行号</a:t>
            </a:r>
            <a:endParaRPr lang="zh-CN"/>
          </a:p>
        </p:txBody>
      </p:sp>
      <p:sp>
        <p:nvSpPr>
          <p:cNvPr id="102" name="content-102"/>
          <p:cNvSpPr txBox="1"/>
          <p:nvPr/>
        </p:nvSpPr>
        <p:spPr>
          <a:xfrm>
            <a:off x="4902200" y="2235200"/>
            <a:ext cx="19812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122037"/>
                </a:solidFill>
                <a:latin typeface="Microsoft YaHei"/>
                <a:ea typeface="Microsoft YaHei"/>
              </a:rPr>
              <a:t>干净运行 SHA</a:t>
            </a:r>
            <a:endParaRPr lang="zh-CN"/>
          </a:p>
        </p:txBody>
      </p:sp>
      <p:sp>
        <p:nvSpPr>
          <p:cNvPr id="103" name="content-103"/>
          <p:cNvSpPr txBox="1"/>
          <p:nvPr/>
        </p:nvSpPr>
        <p:spPr>
          <a:xfrm>
            <a:off x="7086600" y="2235200"/>
            <a:ext cx="43180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122037"/>
                </a:solidFill>
                <a:latin typeface="Microsoft YaHei"/>
                <a:ea typeface="Microsoft YaHei"/>
              </a:rPr>
              <a:t>已记录实验</a:t>
            </a:r>
            <a:endParaRPr lang="zh-CN"/>
          </a:p>
        </p:txBody>
      </p:sp>
      <p:sp>
        <p:nvSpPr>
          <p:cNvPr id="104" name="table-rule"/>
          <p:cNvSpPr/>
          <p:nvPr/>
        </p:nvSpPr>
        <p:spPr>
          <a:xfrm>
            <a:off x="673100" y="2806700"/>
            <a:ext cx="108331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05" name="content-105"/>
          <p:cNvSpPr txBox="1"/>
          <p:nvPr/>
        </p:nvSpPr>
        <p:spPr>
          <a:xfrm>
            <a:off x="774700" y="2946400"/>
            <a:ext cx="39243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EMBED / DISCOVERY-001</a:t>
            </a:r>
            <a:endParaRPr lang="zh-CN"/>
          </a:p>
        </p:txBody>
      </p:sp>
      <p:sp>
        <p:nvSpPr>
          <p:cNvPr id="106" name="content-106"/>
          <p:cNvSpPr txBox="1"/>
          <p:nvPr/>
        </p:nvSpPr>
        <p:spPr>
          <a:xfrm>
            <a:off x="4902200" y="2946400"/>
            <a:ext cx="19812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dc066b76…</a:t>
            </a:r>
            <a:endParaRPr lang="zh-CN"/>
          </a:p>
        </p:txBody>
      </p:sp>
      <p:sp>
        <p:nvSpPr>
          <p:cNvPr id="107" name="content-107"/>
          <p:cNvSpPr txBox="1"/>
          <p:nvPr/>
        </p:nvSpPr>
        <p:spPr>
          <a:xfrm>
            <a:off x="7086600" y="2946400"/>
            <a:ext cx="43180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1202 序列 / 24,581 窗口</a:t>
            </a:r>
            <a:endParaRPr lang="zh-CN"/>
          </a:p>
        </p:txBody>
      </p:sp>
      <p:sp>
        <p:nvSpPr>
          <p:cNvPr id="108" name="table-rule"/>
          <p:cNvSpPr/>
          <p:nvPr/>
        </p:nvSpPr>
        <p:spPr>
          <a:xfrm>
            <a:off x="673100" y="3505200"/>
            <a:ext cx="108331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09" name="content-109"/>
          <p:cNvSpPr txBox="1"/>
          <p:nvPr/>
        </p:nvSpPr>
        <p:spPr>
          <a:xfrm>
            <a:off x="774700" y="3644900"/>
            <a:ext cx="39243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COHORT-001</a:t>
            </a:r>
            <a:endParaRPr lang="zh-CN"/>
          </a:p>
        </p:txBody>
      </p:sp>
      <p:sp>
        <p:nvSpPr>
          <p:cNvPr id="110" name="content-110"/>
          <p:cNvSpPr txBox="1"/>
          <p:nvPr/>
        </p:nvSpPr>
        <p:spPr>
          <a:xfrm>
            <a:off x="4902200" y="3644900"/>
            <a:ext cx="19812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eb2292e4…</a:t>
            </a:r>
            <a:endParaRPr lang="zh-CN"/>
          </a:p>
        </p:txBody>
      </p:sp>
      <p:sp>
        <p:nvSpPr>
          <p:cNvPr id="111" name="content-111"/>
          <p:cNvSpPr txBox="1"/>
          <p:nvPr/>
        </p:nvSpPr>
        <p:spPr>
          <a:xfrm>
            <a:off x="7086600" y="3644900"/>
            <a:ext cx="43180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1453 discovery 固定模型迁移</a:t>
            </a:r>
            <a:endParaRPr lang="zh-CN"/>
          </a:p>
        </p:txBody>
      </p:sp>
      <p:sp>
        <p:nvSpPr>
          <p:cNvPr id="112" name="table-rule"/>
          <p:cNvSpPr/>
          <p:nvPr/>
        </p:nvSpPr>
        <p:spPr>
          <a:xfrm>
            <a:off x="673100" y="4203700"/>
            <a:ext cx="108331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13" name="content-113"/>
          <p:cNvSpPr txBox="1"/>
          <p:nvPr/>
        </p:nvSpPr>
        <p:spPr>
          <a:xfrm>
            <a:off x="774700" y="4343400"/>
            <a:ext cx="39243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ROBUST-001</a:t>
            </a:r>
            <a:endParaRPr lang="zh-CN"/>
          </a:p>
        </p:txBody>
      </p:sp>
      <p:sp>
        <p:nvSpPr>
          <p:cNvPr id="114" name="content-114"/>
          <p:cNvSpPr txBox="1"/>
          <p:nvPr/>
        </p:nvSpPr>
        <p:spPr>
          <a:xfrm>
            <a:off x="4902200" y="4343400"/>
            <a:ext cx="19812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8a0bf237…</a:t>
            </a:r>
            <a:endParaRPr lang="zh-CN"/>
          </a:p>
        </p:txBody>
      </p:sp>
      <p:sp>
        <p:nvSpPr>
          <p:cNvPr id="115" name="content-115"/>
          <p:cNvSpPr txBox="1"/>
          <p:nvPr/>
        </p:nvSpPr>
        <p:spPr>
          <a:xfrm>
            <a:off x="7086600" y="4343400"/>
            <a:ext cx="43180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长度与位置匹配诊断</a:t>
            </a:r>
            <a:endParaRPr lang="zh-CN"/>
          </a:p>
        </p:txBody>
      </p:sp>
      <p:sp>
        <p:nvSpPr>
          <p:cNvPr id="116" name="table-last-rule"/>
          <p:cNvSpPr/>
          <p:nvPr/>
        </p:nvSpPr>
        <p:spPr>
          <a:xfrm>
            <a:off x="673100" y="4902200"/>
            <a:ext cx="108331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8" name="content-8"/>
          <p:cNvSpPr txBox="1"/>
          <p:nvPr/>
        </p:nvSpPr>
        <p:spPr>
          <a:xfrm>
            <a:off x="685800" y="5080000"/>
            <a:ext cx="108077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入口：features/esm2_embed.py · scripts/m3_discovery.py</a:t>
            </a:r>
            <a:endParaRPr lang="zh-CN"/>
          </a:p>
        </p:txBody>
      </p:sp>
      <p:sp>
        <p:nvSpPr>
          <p:cNvPr id="9" name="content-9"/>
          <p:cNvSpPr txBox="1"/>
          <p:nvPr/>
        </p:nvSpPr>
        <p:spPr>
          <a:xfrm>
            <a:off x="685800" y="5626100"/>
            <a:ext cx="108077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00">
                <a:solidFill>
                  <a:srgbClr val="4F627A"/>
                </a:solidFill>
                <a:latin typeface="Microsoft YaHei"/>
                <a:ea typeface="Microsoft YaHei"/>
              </a:rPr>
              <a:t>台账：experiments/registry.csv；收据：reports/M3/runs/&lt;运行号&gt;/run_receipt.json</a:t>
            </a:r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82600" y="393700"/>
            <a:ext cx="63500" cy="304800"/>
          </a:xfrm>
          <a:prstGeom prst="rect">
            <a:avLst/>
          </a:prstGeom>
          <a:solidFill>
            <a:srgbClr val="317CE4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660400" y="381000"/>
            <a:ext cx="8255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300" b="1">
                <a:solidFill>
                  <a:srgbClr val="317CE4"/>
                </a:solidFill>
                <a:latin typeface="Microsoft YaHei"/>
                <a:ea typeface="Microsoft YaHei"/>
              </a:rPr>
              <a:t>附录 B / 证据成熟度</a:t>
            </a:r>
            <a:endParaRPr lang="zh-CN"/>
          </a:p>
        </p:txBody>
      </p:sp>
      <p:sp>
        <p:nvSpPr>
          <p:cNvPr id="4" name="title"/>
          <p:cNvSpPr txBox="1"/>
          <p:nvPr/>
        </p:nvSpPr>
        <p:spPr>
          <a:xfrm>
            <a:off x="482600" y="952500"/>
            <a:ext cx="1125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500" b="1">
                <a:solidFill>
                  <a:srgbClr val="122037"/>
                </a:solidFill>
                <a:latin typeface="Microsoft YaHei"/>
                <a:ea typeface="Microsoft YaHei"/>
              </a:rPr>
              <a:t>坐标与统计交接已核对，功能验证仍有缺口</a:t>
            </a:r>
            <a:endParaRPr lang="zh-CN"/>
          </a:p>
        </p:txBody>
      </p:sp>
      <p:sp>
        <p:nvSpPr>
          <p:cNvPr id="5" name="footer-rule"/>
          <p:cNvSpPr/>
          <p:nvPr/>
        </p:nvSpPr>
        <p:spPr>
          <a:xfrm>
            <a:off x="482600" y="6299200"/>
            <a:ext cx="112268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6" name="footer"/>
          <p:cNvSpPr txBox="1"/>
          <p:nvPr/>
        </p:nvSpPr>
        <p:spPr>
          <a:xfrm>
            <a:off x="482600" y="6413500"/>
            <a:ext cx="558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GvpA · M3 中期汇报</a:t>
            </a:r>
            <a:endParaRPr lang="zh-CN"/>
          </a:p>
        </p:txBody>
      </p:sp>
      <p:sp>
        <p:nvSpPr>
          <p:cNvPr id="7" name="page"/>
          <p:cNvSpPr txBox="1"/>
          <p:nvPr/>
        </p:nvSpPr>
        <p:spPr>
          <a:xfrm>
            <a:off x="11290300" y="6413500"/>
            <a:ext cx="4191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11</a:t>
            </a:r>
            <a:endParaRPr lang="zh-CN"/>
          </a:p>
        </p:txBody>
      </p:sp>
      <p:sp>
        <p:nvSpPr>
          <p:cNvPr id="100" name="table-header"/>
          <p:cNvSpPr/>
          <p:nvPr/>
        </p:nvSpPr>
        <p:spPr>
          <a:xfrm>
            <a:off x="673100" y="2095500"/>
            <a:ext cx="10807700" cy="685800"/>
          </a:xfrm>
          <a:prstGeom prst="rect">
            <a:avLst/>
          </a:prstGeom>
          <a:solidFill>
            <a:srgbClr val="E7F2FD"/>
          </a:solidFill>
          <a:ln>
            <a:noFill/>
          </a:ln>
        </p:spPr>
      </p:sp>
      <p:sp>
        <p:nvSpPr>
          <p:cNvPr id="101" name="content-101"/>
          <p:cNvSpPr txBox="1"/>
          <p:nvPr/>
        </p:nvSpPr>
        <p:spPr>
          <a:xfrm>
            <a:off x="774700" y="22225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122037"/>
                </a:solidFill>
                <a:latin typeface="Microsoft YaHei"/>
                <a:ea typeface="Microsoft YaHei"/>
              </a:rPr>
              <a:t>模块</a:t>
            </a:r>
            <a:endParaRPr lang="zh-CN"/>
          </a:p>
        </p:txBody>
      </p:sp>
      <p:sp>
        <p:nvSpPr>
          <p:cNvPr id="102" name="content-102"/>
          <p:cNvSpPr txBox="1"/>
          <p:nvPr/>
        </p:nvSpPr>
        <p:spPr>
          <a:xfrm>
            <a:off x="2857500" y="2222500"/>
            <a:ext cx="41529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122037"/>
                </a:solidFill>
                <a:latin typeface="Microsoft YaHei"/>
                <a:ea typeface="Microsoft YaHei"/>
              </a:rPr>
              <a:t>已有技术证据</a:t>
            </a:r>
            <a:endParaRPr lang="zh-CN"/>
          </a:p>
        </p:txBody>
      </p:sp>
      <p:sp>
        <p:nvSpPr>
          <p:cNvPr id="103" name="content-103"/>
          <p:cNvSpPr txBox="1"/>
          <p:nvPr/>
        </p:nvSpPr>
        <p:spPr>
          <a:xfrm>
            <a:off x="7213600" y="2222500"/>
            <a:ext cx="4165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122037"/>
                </a:solidFill>
                <a:latin typeface="Microsoft YaHei"/>
                <a:ea typeface="Microsoft YaHei"/>
              </a:rPr>
              <a:t>仍需完成</a:t>
            </a:r>
            <a:endParaRPr lang="zh-CN"/>
          </a:p>
        </p:txBody>
      </p:sp>
      <p:sp>
        <p:nvSpPr>
          <p:cNvPr id="104" name="table-rule"/>
          <p:cNvSpPr/>
          <p:nvPr/>
        </p:nvSpPr>
        <p:spPr>
          <a:xfrm>
            <a:off x="673100" y="2781300"/>
            <a:ext cx="108077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05" name="content-105"/>
          <p:cNvSpPr txBox="1"/>
          <p:nvPr/>
        </p:nvSpPr>
        <p:spPr>
          <a:xfrm>
            <a:off x="774700" y="29210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B 数据交接</a:t>
            </a:r>
            <a:endParaRPr lang="zh-CN"/>
          </a:p>
        </p:txBody>
      </p:sp>
      <p:sp>
        <p:nvSpPr>
          <p:cNvPr id="106" name="content-106"/>
          <p:cNvSpPr txBox="1"/>
          <p:nvPr/>
        </p:nvSpPr>
        <p:spPr>
          <a:xfrm>
            <a:off x="2857500" y="2921000"/>
            <a:ext cx="41529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助手技术预检已有记录</a:t>
            </a:r>
            <a:endParaRPr lang="zh-CN"/>
          </a:p>
        </p:txBody>
      </p:sp>
      <p:sp>
        <p:nvSpPr>
          <p:cNvPr id="107" name="content-107"/>
          <p:cNvSpPr txBox="1"/>
          <p:nvPr/>
        </p:nvSpPr>
        <p:spPr>
          <a:xfrm>
            <a:off x="7213600" y="2921000"/>
            <a:ext cx="4165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本人运行来源与共享访问闭环</a:t>
            </a:r>
            <a:endParaRPr lang="zh-CN"/>
          </a:p>
        </p:txBody>
      </p:sp>
      <p:sp>
        <p:nvSpPr>
          <p:cNvPr id="108" name="table-rule"/>
          <p:cNvSpPr/>
          <p:nvPr/>
        </p:nvSpPr>
        <p:spPr>
          <a:xfrm>
            <a:off x="673100" y="3467100"/>
            <a:ext cx="108077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09" name="content-109"/>
          <p:cNvSpPr txBox="1"/>
          <p:nvPr/>
        </p:nvSpPr>
        <p:spPr>
          <a:xfrm>
            <a:off x="774700" y="36068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C 坐标交接</a:t>
            </a:r>
            <a:endParaRPr lang="zh-CN"/>
          </a:p>
        </p:txBody>
      </p:sp>
      <p:sp>
        <p:nvSpPr>
          <p:cNvPr id="110" name="content-110"/>
          <p:cNvSpPr txBox="1"/>
          <p:nvPr/>
        </p:nvSpPr>
        <p:spPr>
          <a:xfrm>
            <a:off x="2857500" y="3606800"/>
            <a:ext cx="41529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24,581 窗口 / 737,430 残基行</a:t>
            </a:r>
            <a:endParaRPr lang="zh-CN"/>
          </a:p>
        </p:txBody>
      </p:sp>
      <p:sp>
        <p:nvSpPr>
          <p:cNvPr id="111" name="content-111"/>
          <p:cNvSpPr txBox="1"/>
          <p:nvPr/>
        </p:nvSpPr>
        <p:spPr>
          <a:xfrm>
            <a:off x="7213600" y="3606800"/>
            <a:ext cx="4165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保守性与候选结构解释</a:t>
            </a:r>
            <a:endParaRPr lang="zh-CN"/>
          </a:p>
        </p:txBody>
      </p:sp>
      <p:sp>
        <p:nvSpPr>
          <p:cNvPr id="112" name="table-rule"/>
          <p:cNvSpPr/>
          <p:nvPr/>
        </p:nvSpPr>
        <p:spPr>
          <a:xfrm>
            <a:off x="673100" y="4152900"/>
            <a:ext cx="108077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13" name="content-113"/>
          <p:cNvSpPr txBox="1"/>
          <p:nvPr/>
        </p:nvSpPr>
        <p:spPr>
          <a:xfrm>
            <a:off x="774700" y="42926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E 修订包</a:t>
            </a:r>
            <a:endParaRPr lang="zh-CN"/>
          </a:p>
        </p:txBody>
      </p:sp>
      <p:sp>
        <p:nvSpPr>
          <p:cNvPr id="114" name="content-114"/>
          <p:cNvSpPr txBox="1"/>
          <p:nvPr/>
        </p:nvSpPr>
        <p:spPr>
          <a:xfrm>
            <a:off x="2857500" y="4292600"/>
            <a:ext cx="41529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6 份 CSV 助手重跑字节一致</a:t>
            </a:r>
            <a:endParaRPr lang="zh-CN"/>
          </a:p>
        </p:txBody>
      </p:sp>
      <p:sp>
        <p:nvSpPr>
          <p:cNvPr id="115" name="content-115"/>
          <p:cNvSpPr txBox="1"/>
          <p:nvPr/>
        </p:nvSpPr>
        <p:spPr>
          <a:xfrm>
            <a:off x="7213600" y="4292600"/>
            <a:ext cx="4165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序列级匹配基线、实际扰动</a:t>
            </a:r>
            <a:endParaRPr lang="zh-CN"/>
          </a:p>
        </p:txBody>
      </p:sp>
      <p:sp>
        <p:nvSpPr>
          <p:cNvPr id="116" name="table-rule"/>
          <p:cNvSpPr/>
          <p:nvPr/>
        </p:nvSpPr>
        <p:spPr>
          <a:xfrm>
            <a:off x="673100" y="4838700"/>
            <a:ext cx="108077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17" name="content-117"/>
          <p:cNvSpPr txBox="1"/>
          <p:nvPr/>
        </p:nvSpPr>
        <p:spPr>
          <a:xfrm>
            <a:off x="774700" y="49784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D 发现实验</a:t>
            </a:r>
            <a:endParaRPr lang="zh-CN"/>
          </a:p>
        </p:txBody>
      </p:sp>
      <p:sp>
        <p:nvSpPr>
          <p:cNvPr id="118" name="content-118"/>
          <p:cNvSpPr txBox="1"/>
          <p:nvPr/>
        </p:nvSpPr>
        <p:spPr>
          <a:xfrm>
            <a:off x="2857500" y="4978400"/>
            <a:ext cx="41529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聚类、敏感性和混杂诊断</a:t>
            </a:r>
            <a:endParaRPr lang="zh-CN"/>
          </a:p>
        </p:txBody>
      </p:sp>
      <p:sp>
        <p:nvSpPr>
          <p:cNvPr id="119" name="content-119"/>
          <p:cNvSpPr txBox="1"/>
          <p:nvPr/>
        </p:nvSpPr>
        <p:spPr>
          <a:xfrm>
            <a:off x="7213600" y="4978400"/>
            <a:ext cx="4165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22037"/>
                </a:solidFill>
                <a:latin typeface="Microsoft YaHei"/>
                <a:ea typeface="Microsoft YaHei"/>
              </a:rPr>
              <a:t>519 条锁定 validation</a:t>
            </a:r>
            <a:endParaRPr lang="zh-CN"/>
          </a:p>
        </p:txBody>
      </p:sp>
      <p:sp>
        <p:nvSpPr>
          <p:cNvPr id="120" name="table-last-rule"/>
          <p:cNvSpPr/>
          <p:nvPr/>
        </p:nvSpPr>
        <p:spPr>
          <a:xfrm>
            <a:off x="673100" y="5524500"/>
            <a:ext cx="108077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8" name="content-8"/>
          <p:cNvSpPr txBox="1"/>
          <p:nvPr/>
        </p:nvSpPr>
        <p:spPr>
          <a:xfrm>
            <a:off x="685800" y="5715000"/>
            <a:ext cx="108077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00">
                <a:solidFill>
                  <a:srgbClr val="B83837"/>
                </a:solidFill>
                <a:latin typeface="Microsoft YaHei"/>
                <a:ea typeface="Microsoft YaHei"/>
              </a:rPr>
              <a:t>助手预检不代签成员复核；尚无功能真值、正式扰动或 M3 最终验收结论。</a:t>
            </a:r>
            <a:endParaRPr 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82600" y="393700"/>
            <a:ext cx="63500" cy="304800"/>
          </a:xfrm>
          <a:prstGeom prst="rect">
            <a:avLst/>
          </a:prstGeom>
          <a:solidFill>
            <a:srgbClr val="317CE4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660400" y="381000"/>
            <a:ext cx="8255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300" b="1">
                <a:solidFill>
                  <a:srgbClr val="317CE4"/>
                </a:solidFill>
                <a:latin typeface="Microsoft YaHei"/>
                <a:ea typeface="Microsoft YaHei"/>
              </a:rPr>
              <a:t>附录 C / 解释边界</a:t>
            </a:r>
            <a:endParaRPr lang="zh-CN"/>
          </a:p>
        </p:txBody>
      </p:sp>
      <p:sp>
        <p:nvSpPr>
          <p:cNvPr id="4" name="title"/>
          <p:cNvSpPr txBox="1"/>
          <p:nvPr/>
        </p:nvSpPr>
        <p:spPr>
          <a:xfrm>
            <a:off x="482600" y="952500"/>
            <a:ext cx="11252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500" b="1">
                <a:solidFill>
                  <a:srgbClr val="122037"/>
                </a:solidFill>
                <a:latin typeface="Microsoft YaHei"/>
                <a:ea typeface="Microsoft YaHei"/>
              </a:rPr>
              <a:t>三套坐标和两类验证必须明确区分</a:t>
            </a:r>
            <a:endParaRPr lang="zh-CN"/>
          </a:p>
        </p:txBody>
      </p:sp>
      <p:sp>
        <p:nvSpPr>
          <p:cNvPr id="5" name="footer-rule"/>
          <p:cNvSpPr/>
          <p:nvPr/>
        </p:nvSpPr>
        <p:spPr>
          <a:xfrm>
            <a:off x="482600" y="6299200"/>
            <a:ext cx="112268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6" name="footer"/>
          <p:cNvSpPr txBox="1"/>
          <p:nvPr/>
        </p:nvSpPr>
        <p:spPr>
          <a:xfrm>
            <a:off x="482600" y="6413500"/>
            <a:ext cx="558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GvpA · M3 中期汇报</a:t>
            </a:r>
            <a:endParaRPr lang="zh-CN"/>
          </a:p>
        </p:txBody>
      </p:sp>
      <p:sp>
        <p:nvSpPr>
          <p:cNvPr id="7" name="page"/>
          <p:cNvSpPr txBox="1"/>
          <p:nvPr/>
        </p:nvSpPr>
        <p:spPr>
          <a:xfrm>
            <a:off x="11290300" y="6413500"/>
            <a:ext cx="4191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1000">
                <a:solidFill>
                  <a:srgbClr val="4F627A"/>
                </a:solidFill>
                <a:latin typeface="Microsoft YaHei"/>
                <a:ea typeface="Microsoft YaHei"/>
              </a:rPr>
              <a:t>12</a:t>
            </a:r>
            <a:endParaRPr lang="zh-CN"/>
          </a:p>
        </p:txBody>
      </p:sp>
      <p:sp>
        <p:nvSpPr>
          <p:cNvPr id="8" name="content-8"/>
          <p:cNvSpPr txBox="1"/>
          <p:nvPr/>
        </p:nvSpPr>
        <p:spPr>
          <a:xfrm>
            <a:off x="673100" y="2222500"/>
            <a:ext cx="3416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400" b="1">
                <a:solidFill>
                  <a:srgbClr val="317CE4"/>
                </a:solidFill>
                <a:latin typeface="Microsoft YaHei"/>
                <a:ea typeface="Microsoft YaHei"/>
              </a:rPr>
              <a:t>原序列坐标</a:t>
            </a:r>
            <a:endParaRPr lang="zh-CN"/>
          </a:p>
        </p:txBody>
      </p:sp>
      <p:sp>
        <p:nvSpPr>
          <p:cNvPr id="9" name="content-9"/>
          <p:cNvSpPr txBox="1"/>
          <p:nvPr/>
        </p:nvSpPr>
        <p:spPr>
          <a:xfrm>
            <a:off x="673100" y="2984500"/>
            <a:ext cx="3429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每条蛋白自己的位置</a:t>
            </a:r>
            <a:endParaRPr lang="zh-CN"/>
          </a:p>
          <a:p>
            <a:pPr algn="l"/>
            <a:r>
              <a:rPr lang="zh-CN" sz="2000">
                <a:solidFill>
                  <a:srgbClr val="122037"/>
                </a:solidFill>
                <a:latin typeface="Microsoft YaHei"/>
                <a:ea typeface="Microsoft YaHei"/>
              </a:rPr>
              <a:t>用于定位窗口与突变</a:t>
            </a:r>
            <a:endParaRPr lang="zh-CN"/>
          </a:p>
        </p:txBody>
      </p:sp>
      <p:sp>
        <p:nvSpPr>
          <p:cNvPr id="10" name="content-10"/>
          <p:cNvSpPr txBox="1"/>
          <p:nvPr/>
        </p:nvSpPr>
        <p:spPr>
          <a:xfrm>
            <a:off x="4508500" y="2222500"/>
            <a:ext cx="335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400" b="1">
                <a:solidFill>
                  <a:srgbClr val="317CE4"/>
                </a:solidFill>
                <a:latin typeface="Microsoft YaHei"/>
                <a:ea typeface="Microsoft YaHei"/>
              </a:rPr>
              <a:t>HMM 状态</a:t>
            </a:r>
            <a:endParaRPr lang="zh-CN"/>
          </a:p>
        </p:txBody>
      </p:sp>
      <p:sp>
        <p:nvSpPr>
          <p:cNvPr id="11" name="content-11"/>
          <p:cNvSpPr txBox="1"/>
          <p:nvPr/>
        </p:nvSpPr>
        <p:spPr>
          <a:xfrm>
            <a:off x="4508500" y="2984500"/>
            <a:ext cx="3378200" cy="124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900">
                <a:solidFill>
                  <a:srgbClr val="122037"/>
                </a:solidFill>
                <a:latin typeface="Microsoft YaHei"/>
                <a:ea typeface="Microsoft YaHei"/>
              </a:rPr>
              <a:t>PF00741 的 39 个匹配状态</a:t>
            </a:r>
            <a:endParaRPr lang="zh-CN"/>
          </a:p>
          <a:p>
            <a:pPr algn="l"/>
            <a:r>
              <a:rPr lang="zh-CN" sz="1900">
                <a:solidFill>
                  <a:srgbClr val="122037"/>
                </a:solidFill>
                <a:latin typeface="Microsoft YaHei"/>
                <a:ea typeface="Microsoft YaHei"/>
              </a:rPr>
              <a:t>用于跨序列比较</a:t>
            </a:r>
            <a:endParaRPr lang="zh-CN"/>
          </a:p>
        </p:txBody>
      </p:sp>
      <p:sp>
        <p:nvSpPr>
          <p:cNvPr id="12" name="content-12"/>
          <p:cNvSpPr txBox="1"/>
          <p:nvPr/>
        </p:nvSpPr>
        <p:spPr>
          <a:xfrm>
            <a:off x="8369300" y="2222500"/>
            <a:ext cx="33401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400" b="1">
                <a:solidFill>
                  <a:srgbClr val="317CE4"/>
                </a:solidFill>
                <a:latin typeface="Microsoft YaHei"/>
                <a:ea typeface="Microsoft YaHei"/>
              </a:rPr>
              <a:t>结构残基坐标</a:t>
            </a:r>
            <a:endParaRPr lang="zh-CN"/>
          </a:p>
        </p:txBody>
      </p:sp>
      <p:sp>
        <p:nvSpPr>
          <p:cNvPr id="13" name="content-13"/>
          <p:cNvSpPr txBox="1"/>
          <p:nvPr/>
        </p:nvSpPr>
        <p:spPr>
          <a:xfrm>
            <a:off x="8369300" y="2984500"/>
            <a:ext cx="33655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900">
                <a:solidFill>
                  <a:srgbClr val="122037"/>
                </a:solidFill>
                <a:latin typeface="Microsoft YaHei"/>
                <a:ea typeface="Microsoft YaHei"/>
              </a:rPr>
              <a:t>参考结构的链与残基号</a:t>
            </a:r>
            <a:endParaRPr lang="zh-CN"/>
          </a:p>
          <a:p>
            <a:pPr algn="l"/>
            <a:r>
              <a:rPr lang="zh-CN" sz="1900">
                <a:solidFill>
                  <a:srgbClr val="122037"/>
                </a:solidFill>
                <a:latin typeface="Microsoft YaHei"/>
                <a:ea typeface="Microsoft YaHei"/>
              </a:rPr>
              <a:t>映射后才可解释结构位置</a:t>
            </a:r>
            <a:endParaRPr lang="zh-CN"/>
          </a:p>
        </p:txBody>
      </p:sp>
      <p:sp>
        <p:nvSpPr>
          <p:cNvPr id="14" name="boundary-rule"/>
          <p:cNvSpPr/>
          <p:nvPr/>
        </p:nvSpPr>
        <p:spPr>
          <a:xfrm>
            <a:off x="673100" y="4559300"/>
            <a:ext cx="10807700" cy="12700"/>
          </a:xfrm>
          <a:prstGeom prst="rect">
            <a:avLst/>
          </a:prstGeom>
          <a:solidFill>
            <a:srgbClr val="CDD8E5"/>
          </a:solidFill>
          <a:ln>
            <a:noFill/>
          </a:ln>
        </p:spPr>
      </p:sp>
      <p:sp>
        <p:nvSpPr>
          <p:cNvPr id="15" name="content-15"/>
          <p:cNvSpPr txBox="1"/>
          <p:nvPr/>
        </p:nvSpPr>
        <p:spPr>
          <a:xfrm>
            <a:off x="673100" y="4851400"/>
            <a:ext cx="10807700" cy="59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>
                <a:solidFill>
                  <a:srgbClr val="122037"/>
                </a:solidFill>
                <a:latin typeface="Microsoft YaHei"/>
                <a:ea typeface="Microsoft YaHei"/>
              </a:rPr>
              <a:t>HMM 14–39 不等于原序列 14–39，也不能直接对应论文的原序列区间。</a:t>
            </a:r>
            <a:endParaRPr lang="zh-CN"/>
          </a:p>
        </p:txBody>
      </p:sp>
      <p:sp>
        <p:nvSpPr>
          <p:cNvPr id="16" name="content-16"/>
          <p:cNvSpPr txBox="1"/>
          <p:nvPr/>
        </p:nvSpPr>
        <p:spPr>
          <a:xfrm>
            <a:off x="673100" y="5702300"/>
            <a:ext cx="108077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B83837"/>
                </a:solidFill>
                <a:latin typeface="Microsoft YaHei"/>
                <a:ea typeface="Microsoft YaHei"/>
              </a:rPr>
              <a:t>discovery 初步实验 ≠ 独立 validation；长度诊断 AUC ≠ 功能预测准确率。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2026-09-08T10:15:00.5140000Z</dcterms:created>
  <dcterms:modified xsi:type="dcterms:W3CDTF">2026-09-08T10:15:00.5140000Z</dcterms:modified>
</coreProperties>
</file>